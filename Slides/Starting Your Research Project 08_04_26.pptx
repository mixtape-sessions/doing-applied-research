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8" r:id="rId3"/>
    <p:sldId id="259" r:id="rId4"/>
    <p:sldId id="260" r:id="rId5"/>
    <p:sldId id="261" r:id="rId6"/>
    <p:sldId id="262" r:id="rId7"/>
    <p:sldId id="263" r:id="rId8"/>
    <p:sldId id="264" r:id="rId9"/>
    <p:sldId id="265" r:id="rId10"/>
    <p:sldId id="267" r:id="rId11"/>
    <p:sldId id="286" r:id="rId12"/>
    <p:sldId id="287" r:id="rId13"/>
    <p:sldId id="269" r:id="rId14"/>
    <p:sldId id="288" r:id="rId15"/>
    <p:sldId id="290" r:id="rId16"/>
    <p:sldId id="271" r:id="rId17"/>
    <p:sldId id="272" r:id="rId18"/>
    <p:sldId id="273" r:id="rId19"/>
    <p:sldId id="274" r:id="rId20"/>
    <p:sldId id="275" r:id="rId21"/>
    <p:sldId id="276" r:id="rId22"/>
    <p:sldId id="289" r:id="rId23"/>
    <p:sldId id="278" r:id="rId24"/>
    <p:sldId id="279" r:id="rId25"/>
    <p:sldId id="280" r:id="rId26"/>
    <p:sldId id="282" r:id="rId2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autoAdjust="0"/>
    <p:restoredTop sz="94660"/>
  </p:normalViewPr>
  <p:slideViewPr>
    <p:cSldViewPr snapToGrid="0">
      <p:cViewPr varScale="1">
        <p:scale>
          <a:sx n="66" d="100"/>
          <a:sy n="66" d="100"/>
        </p:scale>
        <p:origin x="640"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07A6-F614-B400-67A0-1DBCEC700D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DE4CBA-4C98-2702-1E39-3CF6F047E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1033B3-A463-EE2E-3D45-A7D676DCCCA3}"/>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5" name="Footer Placeholder 4">
            <a:extLst>
              <a:ext uri="{FF2B5EF4-FFF2-40B4-BE49-F238E27FC236}">
                <a16:creationId xmlns:a16="http://schemas.microsoft.com/office/drawing/2014/main" id="{89140477-7931-800A-06AC-681900B96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A64D78-F3B3-A8D8-7D5E-483DA6DF802D}"/>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903007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3375C-E4A7-30B2-87C9-0DAC83521A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45B76-7353-E3FA-1472-76F6B2DDDC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B1DDB0-5D39-9722-6BB9-43AC27430B46}"/>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8" name="Footer Placeholder 7">
            <a:extLst>
              <a:ext uri="{FF2B5EF4-FFF2-40B4-BE49-F238E27FC236}">
                <a16:creationId xmlns:a16="http://schemas.microsoft.com/office/drawing/2014/main" id="{05F81782-A2A0-2638-D516-D8773A3645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EB3A11-EF9C-F02E-0711-F7A2CEF6A0CC}"/>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89263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991A8-5DEB-04A3-8F1C-B5B700ED6C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E7CE26-B62A-60A8-98C1-4BC6CD0C66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C6904-0199-EEF7-40CD-10F117566ABE}"/>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5" name="Footer Placeholder 4">
            <a:extLst>
              <a:ext uri="{FF2B5EF4-FFF2-40B4-BE49-F238E27FC236}">
                <a16:creationId xmlns:a16="http://schemas.microsoft.com/office/drawing/2014/main" id="{7DF63DD8-E908-4E35-DC26-02FEBC990E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680AEA-32C2-9013-5A04-DAF889E5B37B}"/>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2994172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99C8C-9545-D2DC-771D-759EB08229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7B7078-3272-01A4-CDC3-AFEE34448B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C195E0-48AB-A8FE-49D2-7296DB4F05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6D95EF-4699-CE82-79B5-B0A1235A9EF9}"/>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6" name="Footer Placeholder 5">
            <a:extLst>
              <a:ext uri="{FF2B5EF4-FFF2-40B4-BE49-F238E27FC236}">
                <a16:creationId xmlns:a16="http://schemas.microsoft.com/office/drawing/2014/main" id="{3E08503E-8BEC-EBBF-EB84-C171E6811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27AD9-277A-4778-1717-AB8EE346DB17}"/>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2491560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9BEF-11B4-9A40-625E-F3242E2A5B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D55E6E-D7B7-E80A-801A-783718A662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855D03-E6C7-9CFA-F780-B786452010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9B09FF-B5F5-EFE9-DE3F-EEF17F5886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54F056-F092-B9C9-265C-660FAB2E72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B54E8C-299B-8874-C22C-E699C2E4B242}"/>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8" name="Footer Placeholder 7">
            <a:extLst>
              <a:ext uri="{FF2B5EF4-FFF2-40B4-BE49-F238E27FC236}">
                <a16:creationId xmlns:a16="http://schemas.microsoft.com/office/drawing/2014/main" id="{C3C29D0C-103D-A431-3234-C56DC9401A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A674E6-64A0-C435-CE70-C7E60162523E}"/>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125263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F88F-4E43-8C14-6215-9D6E445E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7BB82A-F41F-7C88-4018-D0BC81F9186F}"/>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4" name="Footer Placeholder 3">
            <a:extLst>
              <a:ext uri="{FF2B5EF4-FFF2-40B4-BE49-F238E27FC236}">
                <a16:creationId xmlns:a16="http://schemas.microsoft.com/office/drawing/2014/main" id="{8E54B214-13B0-A504-4AA4-9F12F11BE2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28B84D-2537-92C0-9C7F-407089144002}"/>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3657653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F7E682-754B-B584-4433-F080DF9178C5}"/>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3" name="Footer Placeholder 2">
            <a:extLst>
              <a:ext uri="{FF2B5EF4-FFF2-40B4-BE49-F238E27FC236}">
                <a16:creationId xmlns:a16="http://schemas.microsoft.com/office/drawing/2014/main" id="{59EF01A6-0EF8-9E19-7C38-2A302E794A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FDC31-2E8F-A1FB-94AB-3D8BAD999186}"/>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3993250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70788-B5F2-3C98-C629-C3C574342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9FB3D-2107-F8AD-D1FA-A84DEC05B3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06AA8F-75BD-777B-A585-7AF5F2502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BE2B4-EF12-1E5F-2378-306D0A707C94}"/>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6" name="Footer Placeholder 5">
            <a:extLst>
              <a:ext uri="{FF2B5EF4-FFF2-40B4-BE49-F238E27FC236}">
                <a16:creationId xmlns:a16="http://schemas.microsoft.com/office/drawing/2014/main" id="{15873227-3E54-1BE9-6942-385C62FDA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92DE95-48EF-C32F-E9E8-3D5C781F20D7}"/>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208393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CE3B-97A9-FE79-F51D-C747C03A19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C090C5-8013-5710-50D6-6304BCFA6A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CC8F4E-058E-9C4D-967A-CB3BC87874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86863-8CD0-C391-C41C-2522745AE350}"/>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6" name="Footer Placeholder 5">
            <a:extLst>
              <a:ext uri="{FF2B5EF4-FFF2-40B4-BE49-F238E27FC236}">
                <a16:creationId xmlns:a16="http://schemas.microsoft.com/office/drawing/2014/main" id="{D3F9FABA-303A-4EBD-8BCC-D5FC76ADC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9CF34-FAAF-53CC-E3A1-AE57D1E67FA8}"/>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711262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5E36-F9D6-36AF-B74A-39D70F731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701BEB-3396-D10B-47CA-F249DE546B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D9CD4-2F00-60B0-7143-46967F9CDC74}"/>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5" name="Footer Placeholder 4">
            <a:extLst>
              <a:ext uri="{FF2B5EF4-FFF2-40B4-BE49-F238E27FC236}">
                <a16:creationId xmlns:a16="http://schemas.microsoft.com/office/drawing/2014/main" id="{F660DC8F-8FBF-6F18-5CB5-8ECC1610EA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F9F47-2541-44EF-6309-711385E01674}"/>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2262921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415CAD-F80F-AA2E-897E-2290AE58E1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D320D8-CC01-370B-735B-975C662C74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1269DF-0BDB-230E-0C7A-C284C81A63A5}"/>
              </a:ext>
            </a:extLst>
          </p:cNvPr>
          <p:cNvSpPr>
            <a:spLocks noGrp="1"/>
          </p:cNvSpPr>
          <p:nvPr>
            <p:ph type="dt" sz="half" idx="10"/>
          </p:nvPr>
        </p:nvSpPr>
        <p:spPr/>
        <p:txBody>
          <a:bodyPr/>
          <a:lstStyle/>
          <a:p>
            <a:fld id="{7C0F84F9-5915-4105-8249-F88D791789A9}" type="datetimeFigureOut">
              <a:rPr lang="en-US" smtClean="0"/>
              <a:t>8/4/2026</a:t>
            </a:fld>
            <a:endParaRPr lang="en-US"/>
          </a:p>
        </p:txBody>
      </p:sp>
      <p:sp>
        <p:nvSpPr>
          <p:cNvPr id="5" name="Footer Placeholder 4">
            <a:extLst>
              <a:ext uri="{FF2B5EF4-FFF2-40B4-BE49-F238E27FC236}">
                <a16:creationId xmlns:a16="http://schemas.microsoft.com/office/drawing/2014/main" id="{7F976895-4C6F-D905-FED6-1EFBE8BCC9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2D835-AA45-5384-8564-BD6ACF18B119}"/>
              </a:ext>
            </a:extLst>
          </p:cNvPr>
          <p:cNvSpPr>
            <a:spLocks noGrp="1"/>
          </p:cNvSpPr>
          <p:nvPr>
            <p:ph type="sldNum" sz="quarter" idx="12"/>
          </p:nvPr>
        </p:nvSpPr>
        <p:spPr/>
        <p:txBody>
          <a:bodyPr/>
          <a:lstStyle/>
          <a:p>
            <a:fld id="{2BB5E1A1-95AC-4E24-932B-BBBFAF3B3452}" type="slidenum">
              <a:rPr lang="en-US" smtClean="0"/>
              <a:t>‹#›</a:t>
            </a:fld>
            <a:endParaRPr lang="en-US"/>
          </a:p>
        </p:txBody>
      </p:sp>
    </p:spTree>
    <p:extLst>
      <p:ext uri="{BB962C8B-B14F-4D97-AF65-F5344CB8AC3E}">
        <p14:creationId xmlns:p14="http://schemas.microsoft.com/office/powerpoint/2010/main" val="1073401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B15BA1-2DFA-9ECA-DC16-D325C36BBE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9EC1473-B0E8-7900-0E39-3E135078D2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7AF0FD-7A77-54BC-2316-7570E0F2A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0F84F9-5915-4105-8249-F88D791789A9}" type="datetimeFigureOut">
              <a:rPr lang="en-US" smtClean="0"/>
              <a:t>8/4/2026</a:t>
            </a:fld>
            <a:endParaRPr lang="en-US"/>
          </a:p>
        </p:txBody>
      </p:sp>
      <p:sp>
        <p:nvSpPr>
          <p:cNvPr id="5" name="Footer Placeholder 4">
            <a:extLst>
              <a:ext uri="{FF2B5EF4-FFF2-40B4-BE49-F238E27FC236}">
                <a16:creationId xmlns:a16="http://schemas.microsoft.com/office/drawing/2014/main" id="{D00C3CF2-A6A7-B249-0AB4-DEA37279B0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7758BF-FE2B-2C83-832F-DC1719FD50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B5E1A1-95AC-4E24-932B-BBBFAF3B3452}" type="slidenum">
              <a:rPr lang="en-US" smtClean="0"/>
              <a:t>‹#›</a:t>
            </a:fld>
            <a:endParaRPr lang="en-US"/>
          </a:p>
        </p:txBody>
      </p:sp>
      <p:pic>
        <p:nvPicPr>
          <p:cNvPr id="1026" name="Picture 2" descr="Mixtape: The Podcast">
            <a:extLst>
              <a:ext uri="{FF2B5EF4-FFF2-40B4-BE49-F238E27FC236}">
                <a16:creationId xmlns:a16="http://schemas.microsoft.com/office/drawing/2014/main" id="{F6042501-FDDE-B9E0-17B1-720B4CBE464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097986" y="32657"/>
            <a:ext cx="1094014" cy="1094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838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25D9332-8D52-8E52-57C9-1A1FA1726B85}"/>
              </a:ext>
            </a:extLst>
          </p:cNvPr>
          <p:cNvPicPr>
            <a:picLocks noChangeAspect="1"/>
          </p:cNvPicPr>
          <p:nvPr/>
        </p:nvPicPr>
        <p:blipFill rotWithShape="1">
          <a:blip r:embed="rId2"/>
          <a:srcRect l="37018" t="59131" r="36687" b="24809"/>
          <a:stretch>
            <a:fillRect/>
          </a:stretch>
        </p:blipFill>
        <p:spPr>
          <a:xfrm>
            <a:off x="4551871" y="2556476"/>
            <a:ext cx="3088258" cy="1061049"/>
          </a:xfrm>
          <a:prstGeom prst="rect">
            <a:avLst/>
          </a:prstGeom>
        </p:spPr>
      </p:pic>
      <p:sp>
        <p:nvSpPr>
          <p:cNvPr id="3" name="Title 1">
            <a:extLst>
              <a:ext uri="{FF2B5EF4-FFF2-40B4-BE49-F238E27FC236}">
                <a16:creationId xmlns:a16="http://schemas.microsoft.com/office/drawing/2014/main" id="{133F9BEB-427E-7DC6-E216-CD347906A063}"/>
              </a:ext>
            </a:extLst>
          </p:cNvPr>
          <p:cNvSpPr txBox="1">
            <a:spLocks/>
          </p:cNvSpPr>
          <p:nvPr/>
        </p:nvSpPr>
        <p:spPr>
          <a:xfrm>
            <a:off x="1844653" y="5030456"/>
            <a:ext cx="8690919" cy="71913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Palatino Linotype" panose="02040502050505030304" pitchFamily="18" charset="0"/>
              </a:rPr>
              <a:t>Starting your research project:</a:t>
            </a:r>
          </a:p>
          <a:p>
            <a:r>
              <a:rPr lang="en-US" sz="2800" dirty="0">
                <a:latin typeface="Palatino Linotype" panose="02040502050505030304" pitchFamily="18" charset="0"/>
              </a:rPr>
              <a:t>What makes a research question viable?</a:t>
            </a:r>
          </a:p>
        </p:txBody>
      </p:sp>
      <p:sp>
        <p:nvSpPr>
          <p:cNvPr id="2" name="TextBox 1">
            <a:extLst>
              <a:ext uri="{FF2B5EF4-FFF2-40B4-BE49-F238E27FC236}">
                <a16:creationId xmlns:a16="http://schemas.microsoft.com/office/drawing/2014/main" id="{DCD12AD6-F9D9-8828-31B6-8ABE1949CEDB}"/>
              </a:ext>
            </a:extLst>
          </p:cNvPr>
          <p:cNvSpPr txBox="1"/>
          <p:nvPr/>
        </p:nvSpPr>
        <p:spPr>
          <a:xfrm>
            <a:off x="2078966" y="763983"/>
            <a:ext cx="7755148" cy="800219"/>
          </a:xfrm>
          <a:prstGeom prst="rect">
            <a:avLst/>
          </a:prstGeom>
          <a:noFill/>
        </p:spPr>
        <p:txBody>
          <a:bodyPr wrap="square" rtlCol="0">
            <a:spAutoFit/>
          </a:bodyPr>
          <a:lstStyle/>
          <a:p>
            <a:pPr algn="ctr"/>
            <a:r>
              <a:rPr lang="en-US" sz="4600" b="1" dirty="0">
                <a:latin typeface="Palatino Linotype" panose="02040502050505030304" pitchFamily="18" charset="0"/>
              </a:rPr>
              <a:t>Hidden Curriculum</a:t>
            </a:r>
          </a:p>
        </p:txBody>
      </p:sp>
    </p:spTree>
    <p:extLst>
      <p:ext uri="{BB962C8B-B14F-4D97-AF65-F5344CB8AC3E}">
        <p14:creationId xmlns:p14="http://schemas.microsoft.com/office/powerpoint/2010/main" val="446578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A88B7C-6204-5B85-DCF2-D75754ED53AB}"/>
              </a:ext>
            </a:extLst>
          </p:cNvPr>
          <p:cNvSpPr>
            <a:spLocks noGrp="1"/>
          </p:cNvSpPr>
          <p:nvPr>
            <p:ph idx="1"/>
          </p:nvPr>
        </p:nvSpPr>
        <p:spPr>
          <a:xfrm>
            <a:off x="0" y="1171575"/>
            <a:ext cx="12192000" cy="4938713"/>
          </a:xfrm>
        </p:spPr>
        <p:txBody>
          <a:bodyPr/>
          <a:lstStyle/>
          <a:p>
            <a:r>
              <a:rPr lang="en-US" sz="2600" dirty="0">
                <a:latin typeface="Palatino Linotype" panose="02040502050505030304" pitchFamily="18" charset="0"/>
              </a:rPr>
              <a:t>Mark Anderson (Prof. of Economics, Montana State University and NBER) and Dan Rees (Prof. of Economics, U of Carlos III) </a:t>
            </a:r>
          </a:p>
          <a:p>
            <a:pPr lvl="1"/>
            <a:r>
              <a:rPr lang="en-US" sz="2000" dirty="0">
                <a:latin typeface="Palatino Linotype" panose="02040502050505030304" pitchFamily="18" charset="0"/>
              </a:rPr>
              <a:t>Applied microeconomists: health economics and economic history</a:t>
            </a:r>
          </a:p>
          <a:p>
            <a:pPr lvl="1"/>
            <a:r>
              <a:rPr lang="en-US" sz="2000" dirty="0">
                <a:latin typeface="Palatino Linotype" panose="02040502050505030304" pitchFamily="18" charset="0"/>
              </a:rPr>
              <a:t>Reduced-form: DD, IV, RD, etc.</a:t>
            </a:r>
          </a:p>
          <a:p>
            <a:pPr lvl="1"/>
            <a:r>
              <a:rPr lang="en-US" sz="2000" dirty="0">
                <a:latin typeface="Palatino Linotype" panose="02040502050505030304" pitchFamily="18" charset="0"/>
              </a:rPr>
              <a:t>Focus this week: discuss research, writing, and publication process within context of reduced-form applied micro</a:t>
            </a:r>
          </a:p>
          <a:p>
            <a:pPr marL="457200" lvl="1" indent="0">
              <a:buNone/>
            </a:pPr>
            <a:endParaRPr lang="en-US" sz="1000" dirty="0">
              <a:latin typeface="Palatino Linotype" panose="02040502050505030304" pitchFamily="18" charset="0"/>
            </a:endParaRPr>
          </a:p>
          <a:p>
            <a:r>
              <a:rPr lang="en-US" sz="2600" dirty="0">
                <a:latin typeface="Palatino Linotype" panose="02040502050505030304" pitchFamily="18" charset="0"/>
              </a:rPr>
              <a:t>Recent research topics include…</a:t>
            </a:r>
          </a:p>
          <a:p>
            <a:pPr lvl="1"/>
            <a:r>
              <a:rPr lang="en-US" sz="2000" dirty="0">
                <a:latin typeface="Palatino Linotype" panose="02040502050505030304" pitchFamily="18" charset="0"/>
              </a:rPr>
              <a:t>Medical innovation and racial health disparities</a:t>
            </a:r>
          </a:p>
          <a:p>
            <a:pPr lvl="1"/>
            <a:r>
              <a:rPr lang="en-US" sz="2000" dirty="0">
                <a:latin typeface="Palatino Linotype" panose="02040502050505030304" pitchFamily="18" charset="0"/>
              </a:rPr>
              <a:t>Public health and mortality at the turn of the 20</a:t>
            </a:r>
            <a:r>
              <a:rPr lang="en-US" sz="2000" baseline="30000" dirty="0">
                <a:latin typeface="Palatino Linotype" panose="02040502050505030304" pitchFamily="18" charset="0"/>
              </a:rPr>
              <a:t>th</a:t>
            </a:r>
            <a:r>
              <a:rPr lang="en-US" sz="2000" dirty="0">
                <a:latin typeface="Palatino Linotype" panose="02040502050505030304" pitchFamily="18" charset="0"/>
              </a:rPr>
              <a:t> century</a:t>
            </a:r>
          </a:p>
          <a:p>
            <a:pPr lvl="1"/>
            <a:r>
              <a:rPr lang="en-US" sz="2000" dirty="0">
                <a:latin typeface="Palatino Linotype" panose="02040502050505030304" pitchFamily="18" charset="0"/>
              </a:rPr>
              <a:t>Hospital desegregation during the civil rights era</a:t>
            </a:r>
          </a:p>
          <a:p>
            <a:pPr lvl="1"/>
            <a:r>
              <a:rPr lang="en-US" sz="2000" dirty="0">
                <a:latin typeface="Palatino Linotype" panose="02040502050505030304" pitchFamily="18" charset="0"/>
              </a:rPr>
              <a:t>The effects of having a physician in the family on the likelihood of receiving a COVID booster</a:t>
            </a:r>
          </a:p>
        </p:txBody>
      </p:sp>
    </p:spTree>
    <p:extLst>
      <p:ext uri="{BB962C8B-B14F-4D97-AF65-F5344CB8AC3E}">
        <p14:creationId xmlns:p14="http://schemas.microsoft.com/office/powerpoint/2010/main" val="110229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1A16A0-CD97-68CC-7672-16EAF4DFBAF5}"/>
              </a:ext>
            </a:extLst>
          </p:cNvPr>
          <p:cNvSpPr>
            <a:spLocks noGrp="1"/>
          </p:cNvSpPr>
          <p:nvPr>
            <p:ph idx="1"/>
          </p:nvPr>
        </p:nvSpPr>
        <p:spPr>
          <a:xfrm>
            <a:off x="0" y="1257300"/>
            <a:ext cx="12192000" cy="5143500"/>
          </a:xfrm>
        </p:spPr>
        <p:txBody>
          <a:bodyPr>
            <a:noAutofit/>
          </a:bodyPr>
          <a:lstStyle/>
          <a:p>
            <a:r>
              <a:rPr lang="en-US" sz="2600" dirty="0">
                <a:latin typeface="Palatino Linotype" panose="02040502050505030304" pitchFamily="18" charset="0"/>
              </a:rPr>
              <a:t>Today:</a:t>
            </a:r>
          </a:p>
          <a:p>
            <a:pPr lvl="1"/>
            <a:r>
              <a:rPr lang="en-US" sz="2200" dirty="0">
                <a:latin typeface="Palatino Linotype" panose="02040502050505030304" pitchFamily="18" charset="0"/>
              </a:rPr>
              <a:t>Starting your research project (Mark)</a:t>
            </a:r>
          </a:p>
          <a:p>
            <a:pPr marL="457200" lvl="1" indent="0">
              <a:buNone/>
            </a:pPr>
            <a:endParaRPr lang="en-US" sz="2200" dirty="0">
              <a:latin typeface="Palatino Linotype" panose="02040502050505030304" pitchFamily="18" charset="0"/>
            </a:endParaRPr>
          </a:p>
          <a:p>
            <a:pPr lvl="1"/>
            <a:r>
              <a:rPr lang="en-US" sz="2200" dirty="0">
                <a:latin typeface="Palatino Linotype" panose="02040502050505030304" pitchFamily="18" charset="0"/>
              </a:rPr>
              <a:t>Writing style and using AI (Dan)</a:t>
            </a:r>
          </a:p>
          <a:p>
            <a:pPr marL="457200" lvl="1" indent="0">
              <a:buNone/>
            </a:pPr>
            <a:endParaRPr lang="en-US" sz="2200" dirty="0">
              <a:latin typeface="Palatino Linotype" panose="02040502050505030304" pitchFamily="18" charset="0"/>
            </a:endParaRPr>
          </a:p>
          <a:p>
            <a:pPr lvl="1"/>
            <a:r>
              <a:rPr lang="en-US" sz="2200" dirty="0">
                <a:latin typeface="Palatino Linotype" panose="02040502050505030304" pitchFamily="18" charset="0"/>
              </a:rPr>
              <a:t>How to write a research paper…</a:t>
            </a:r>
          </a:p>
          <a:p>
            <a:pPr lvl="2"/>
            <a:r>
              <a:rPr lang="en-US" sz="1800" dirty="0">
                <a:latin typeface="Palatino Linotype" panose="02040502050505030304" pitchFamily="18" charset="0"/>
              </a:rPr>
              <a:t>Introduction (Dan)</a:t>
            </a:r>
          </a:p>
          <a:p>
            <a:pPr lvl="2"/>
            <a:r>
              <a:rPr lang="en-US" sz="1800" dirty="0">
                <a:latin typeface="Palatino Linotype" panose="02040502050505030304" pitchFamily="18" charset="0"/>
              </a:rPr>
              <a:t>Background (Mark)</a:t>
            </a:r>
          </a:p>
          <a:p>
            <a:pPr lvl="2"/>
            <a:r>
              <a:rPr lang="en-US" sz="1800" dirty="0">
                <a:latin typeface="Palatino Linotype" panose="02040502050505030304" pitchFamily="18" charset="0"/>
              </a:rPr>
              <a:t>Empirical methods (Mark)</a:t>
            </a:r>
          </a:p>
          <a:p>
            <a:pPr lvl="2"/>
            <a:r>
              <a:rPr lang="en-US" sz="1800" dirty="0">
                <a:latin typeface="Palatino Linotype" panose="02040502050505030304" pitchFamily="18" charset="0"/>
              </a:rPr>
              <a:t>Results (Dan)</a:t>
            </a:r>
          </a:p>
          <a:p>
            <a:pPr lvl="2"/>
            <a:r>
              <a:rPr lang="en-US" sz="1800" dirty="0">
                <a:latin typeface="Palatino Linotype" panose="02040502050505030304" pitchFamily="18" charset="0"/>
              </a:rPr>
              <a:t>Conclusion (Mark)</a:t>
            </a:r>
          </a:p>
          <a:p>
            <a:pPr lvl="2"/>
            <a:endParaRPr lang="en-US" sz="1800" dirty="0">
              <a:latin typeface="Palatino Linotype" panose="02040502050505030304" pitchFamily="18" charset="0"/>
            </a:endParaRPr>
          </a:p>
          <a:p>
            <a:pPr marL="0" indent="0">
              <a:buNone/>
            </a:pPr>
            <a:endParaRPr lang="en-US" sz="1000" dirty="0">
              <a:latin typeface="Palatino Linotype" panose="02040502050505030304" pitchFamily="18" charset="0"/>
            </a:endParaRPr>
          </a:p>
          <a:p>
            <a:pPr marL="0" indent="0">
              <a:buNone/>
            </a:pPr>
            <a:endParaRPr lang="en-US" sz="1000" dirty="0">
              <a:latin typeface="Palatino Linotype" panose="02040502050505030304" pitchFamily="18" charset="0"/>
            </a:endParaRPr>
          </a:p>
        </p:txBody>
      </p:sp>
      <p:sp>
        <p:nvSpPr>
          <p:cNvPr id="4" name="Title 1">
            <a:extLst>
              <a:ext uri="{FF2B5EF4-FFF2-40B4-BE49-F238E27FC236}">
                <a16:creationId xmlns:a16="http://schemas.microsoft.com/office/drawing/2014/main" id="{83039C92-F1B8-30C0-D874-2B091E7E2123}"/>
              </a:ext>
            </a:extLst>
          </p:cNvPr>
          <p:cNvSpPr>
            <a:spLocks noGrp="1"/>
          </p:cNvSpPr>
          <p:nvPr>
            <p:ph type="title"/>
          </p:nvPr>
        </p:nvSpPr>
        <p:spPr>
          <a:xfrm>
            <a:off x="76200" y="190500"/>
            <a:ext cx="10515600" cy="814388"/>
          </a:xfrm>
        </p:spPr>
        <p:txBody>
          <a:bodyPr>
            <a:normAutofit/>
          </a:bodyPr>
          <a:lstStyle/>
          <a:p>
            <a:r>
              <a:rPr lang="en-US" sz="3600" b="1" dirty="0">
                <a:latin typeface="Palatino Linotype" panose="02040502050505030304" pitchFamily="18" charset="0"/>
              </a:rPr>
              <a:t>What Dan Rees and I will be covering…</a:t>
            </a:r>
          </a:p>
        </p:txBody>
      </p:sp>
    </p:spTree>
    <p:extLst>
      <p:ext uri="{BB962C8B-B14F-4D97-AF65-F5344CB8AC3E}">
        <p14:creationId xmlns:p14="http://schemas.microsoft.com/office/powerpoint/2010/main" val="370930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CC9F-C3B2-ABA5-0D5D-7DCDC153A8C5}"/>
              </a:ext>
            </a:extLst>
          </p:cNvPr>
          <p:cNvSpPr>
            <a:spLocks noGrp="1"/>
          </p:cNvSpPr>
          <p:nvPr>
            <p:ph type="title"/>
          </p:nvPr>
        </p:nvSpPr>
        <p:spPr>
          <a:xfrm>
            <a:off x="133350" y="285750"/>
            <a:ext cx="11220450" cy="881063"/>
          </a:xfrm>
        </p:spPr>
        <p:txBody>
          <a:bodyPr>
            <a:normAutofit/>
          </a:bodyPr>
          <a:lstStyle/>
          <a:p>
            <a:r>
              <a:rPr lang="en-US" sz="3600" b="1" dirty="0">
                <a:latin typeface="Palatino Linotype" panose="02040502050505030304" pitchFamily="18" charset="0"/>
              </a:rPr>
              <a:t>Starting Your Research Project</a:t>
            </a:r>
          </a:p>
        </p:txBody>
      </p:sp>
      <p:sp>
        <p:nvSpPr>
          <p:cNvPr id="3" name="Content Placeholder 2">
            <a:extLst>
              <a:ext uri="{FF2B5EF4-FFF2-40B4-BE49-F238E27FC236}">
                <a16:creationId xmlns:a16="http://schemas.microsoft.com/office/drawing/2014/main" id="{2AAE9D46-8500-B0F5-AA06-4640B90FF87D}"/>
              </a:ext>
            </a:extLst>
          </p:cNvPr>
          <p:cNvSpPr>
            <a:spLocks noGrp="1"/>
          </p:cNvSpPr>
          <p:nvPr>
            <p:ph idx="1"/>
          </p:nvPr>
        </p:nvSpPr>
        <p:spPr>
          <a:xfrm>
            <a:off x="133350" y="1390650"/>
            <a:ext cx="12058650" cy="5257800"/>
          </a:xfrm>
        </p:spPr>
        <p:txBody>
          <a:bodyPr>
            <a:normAutofit/>
          </a:bodyPr>
          <a:lstStyle/>
          <a:p>
            <a:r>
              <a:rPr lang="en-US" sz="2600" dirty="0">
                <a:latin typeface="Palatino Linotype" panose="02040502050505030304" pitchFamily="18" charset="0"/>
              </a:rPr>
              <a:t>What makes a research question viable?</a:t>
            </a:r>
          </a:p>
          <a:p>
            <a:pPr marL="0" indent="0">
              <a:buNone/>
            </a:pPr>
            <a:endParaRPr lang="en-US" sz="2600" dirty="0">
              <a:latin typeface="Palatino Linotype" panose="02040502050505030304" pitchFamily="18" charset="0"/>
            </a:endParaRPr>
          </a:p>
          <a:p>
            <a:r>
              <a:rPr lang="en-US" sz="2600" dirty="0">
                <a:latin typeface="Palatino Linotype" panose="02040502050505030304" pitchFamily="18" charset="0"/>
              </a:rPr>
              <a:t>The three hurdles:</a:t>
            </a:r>
          </a:p>
          <a:p>
            <a:pPr lvl="1"/>
            <a:r>
              <a:rPr lang="en-US" sz="2200" dirty="0">
                <a:latin typeface="Palatino Linotype" panose="02040502050505030304" pitchFamily="18" charset="0"/>
              </a:rPr>
              <a:t>(</a:t>
            </a:r>
            <a:r>
              <a:rPr lang="en-US" sz="2200" dirty="0" err="1">
                <a:latin typeface="Palatino Linotype" panose="02040502050505030304" pitchFamily="18" charset="0"/>
              </a:rPr>
              <a:t>i</a:t>
            </a:r>
            <a:r>
              <a:rPr lang="en-US" sz="2200" dirty="0">
                <a:latin typeface="Palatino Linotype" panose="02040502050505030304" pitchFamily="18" charset="0"/>
              </a:rPr>
              <a:t>) Is it interesting/important/policy relevant? </a:t>
            </a:r>
          </a:p>
          <a:p>
            <a:pPr lvl="1"/>
            <a:r>
              <a:rPr lang="en-US" sz="2200" dirty="0">
                <a:latin typeface="Palatino Linotype" panose="02040502050505030304" pitchFamily="18" charset="0"/>
              </a:rPr>
              <a:t>(ii) Are you filling a clearly defined gap in the literature?  </a:t>
            </a:r>
          </a:p>
          <a:p>
            <a:pPr lvl="1"/>
            <a:r>
              <a:rPr lang="en-US" sz="2200" dirty="0">
                <a:latin typeface="Palatino Linotype" panose="02040502050505030304" pitchFamily="18" charset="0"/>
              </a:rPr>
              <a:t>(iii) Are the data available? Does a well-defined natural experiment exist?</a:t>
            </a:r>
          </a:p>
          <a:p>
            <a:pPr lvl="1"/>
            <a:endParaRPr lang="en-US" sz="2200" dirty="0">
              <a:latin typeface="Palatino Linotype" panose="02040502050505030304" pitchFamily="18" charset="0"/>
            </a:endParaRPr>
          </a:p>
          <a:p>
            <a:r>
              <a:rPr lang="en-US" sz="2600" dirty="0">
                <a:latin typeface="Palatino Linotype" panose="02040502050505030304" pitchFamily="18" charset="0"/>
              </a:rPr>
              <a:t>I still use this basic process</a:t>
            </a:r>
          </a:p>
        </p:txBody>
      </p:sp>
    </p:spTree>
    <p:extLst>
      <p:ext uri="{BB962C8B-B14F-4D97-AF65-F5344CB8AC3E}">
        <p14:creationId xmlns:p14="http://schemas.microsoft.com/office/powerpoint/2010/main" val="1918446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AB7E-27EC-90A9-7D42-BEB9733678AF}"/>
              </a:ext>
            </a:extLst>
          </p:cNvPr>
          <p:cNvSpPr>
            <a:spLocks noGrp="1"/>
          </p:cNvSpPr>
          <p:nvPr>
            <p:ph type="title"/>
          </p:nvPr>
        </p:nvSpPr>
        <p:spPr>
          <a:xfrm>
            <a:off x="114300" y="254793"/>
            <a:ext cx="10515600" cy="852488"/>
          </a:xfrm>
        </p:spPr>
        <p:txBody>
          <a:bodyPr>
            <a:noAutofit/>
          </a:bodyPr>
          <a:lstStyle/>
          <a:p>
            <a:r>
              <a:rPr lang="en-US" sz="2800" b="1" dirty="0">
                <a:latin typeface="Palatino Linotype" panose="02040502050505030304" pitchFamily="18" charset="0"/>
              </a:rPr>
              <a:t>Hurdle #1. Is it interesting/important/policy relevant?</a:t>
            </a:r>
          </a:p>
        </p:txBody>
      </p:sp>
      <p:sp>
        <p:nvSpPr>
          <p:cNvPr id="3" name="Content Placeholder 2">
            <a:extLst>
              <a:ext uri="{FF2B5EF4-FFF2-40B4-BE49-F238E27FC236}">
                <a16:creationId xmlns:a16="http://schemas.microsoft.com/office/drawing/2014/main" id="{8B868ECE-F635-6CF3-57B4-70D368EF09AD}"/>
              </a:ext>
            </a:extLst>
          </p:cNvPr>
          <p:cNvSpPr>
            <a:spLocks noGrp="1"/>
          </p:cNvSpPr>
          <p:nvPr>
            <p:ph idx="1"/>
          </p:nvPr>
        </p:nvSpPr>
        <p:spPr>
          <a:xfrm>
            <a:off x="114299" y="1181100"/>
            <a:ext cx="11953875" cy="5422107"/>
          </a:xfrm>
        </p:spPr>
        <p:txBody>
          <a:bodyPr>
            <a:normAutofit/>
          </a:bodyPr>
          <a:lstStyle/>
          <a:p>
            <a:r>
              <a:rPr lang="en-US" sz="2400" dirty="0">
                <a:latin typeface="Palatino Linotype" panose="02040502050505030304" pitchFamily="18" charset="0"/>
              </a:rPr>
              <a:t>How do I know if my idea is interesting?</a:t>
            </a:r>
          </a:p>
          <a:p>
            <a:pPr lvl="1"/>
            <a:r>
              <a:rPr lang="en-US" sz="2200" dirty="0">
                <a:latin typeface="Palatino Linotype" panose="02040502050505030304" pitchFamily="18" charset="0"/>
              </a:rPr>
              <a:t>Seems interesting to me, but…</a:t>
            </a:r>
          </a:p>
          <a:p>
            <a:pPr lvl="1"/>
            <a:r>
              <a:rPr lang="en-US" sz="2200" dirty="0">
                <a:latin typeface="Palatino Linotype" panose="02040502050505030304" pitchFamily="18" charset="0"/>
              </a:rPr>
              <a:t>Pitch your idea broadly, especially to other economists who you know will be critical</a:t>
            </a:r>
          </a:p>
          <a:p>
            <a:pPr lvl="2"/>
            <a:r>
              <a:rPr lang="en-US" sz="1800" dirty="0">
                <a:latin typeface="Palatino Linotype" panose="02040502050505030304" pitchFamily="18" charset="0"/>
              </a:rPr>
              <a:t>Try-to-kill-my-idea sessions</a:t>
            </a:r>
          </a:p>
          <a:p>
            <a:pPr lvl="1"/>
            <a:r>
              <a:rPr lang="en-US" sz="2200" dirty="0">
                <a:latin typeface="Palatino Linotype" panose="02040502050505030304" pitchFamily="18" charset="0"/>
              </a:rPr>
              <a:t>Pitch your idea to non-economists.</a:t>
            </a:r>
          </a:p>
          <a:p>
            <a:pPr lvl="2"/>
            <a:r>
              <a:rPr lang="en-US" sz="1800" dirty="0">
                <a:latin typeface="Palatino Linotype" panose="02040502050505030304" pitchFamily="18" charset="0"/>
              </a:rPr>
              <a:t>I used to pitch my ideas to my father (and he was a dentist)</a:t>
            </a:r>
          </a:p>
          <a:p>
            <a:pPr lvl="2"/>
            <a:r>
              <a:rPr lang="en-US" sz="1800" dirty="0">
                <a:latin typeface="Palatino Linotype" panose="02040502050505030304" pitchFamily="18" charset="0"/>
              </a:rPr>
              <a:t>My wife hates all of my ideas…</a:t>
            </a:r>
          </a:p>
          <a:p>
            <a:pPr marL="914400" lvl="2" indent="0">
              <a:buNone/>
            </a:pPr>
            <a:endParaRPr lang="en-US" sz="1000" dirty="0">
              <a:latin typeface="Palatino Linotype" panose="02040502050505030304" pitchFamily="18" charset="0"/>
            </a:endParaRPr>
          </a:p>
          <a:p>
            <a:r>
              <a:rPr lang="en-US" sz="2600" dirty="0">
                <a:latin typeface="Palatino Linotype" panose="02040502050505030304" pitchFamily="18" charset="0"/>
              </a:rPr>
              <a:t>If it is interesting, does that mean it is “important”?</a:t>
            </a:r>
          </a:p>
          <a:p>
            <a:pPr lvl="1"/>
            <a:r>
              <a:rPr lang="en-US" sz="2200" dirty="0">
                <a:latin typeface="Palatino Linotype" panose="02040502050505030304" pitchFamily="18" charset="0"/>
              </a:rPr>
              <a:t>Yes! Which leads to…</a:t>
            </a:r>
          </a:p>
          <a:p>
            <a:pPr lvl="1"/>
            <a:endParaRPr lang="en-US" sz="1000" dirty="0">
              <a:latin typeface="Palatino Linotype" panose="02040502050505030304" pitchFamily="18" charset="0"/>
            </a:endParaRPr>
          </a:p>
          <a:p>
            <a:r>
              <a:rPr lang="en-US" sz="2600" dirty="0">
                <a:latin typeface="Palatino Linotype" panose="02040502050505030304" pitchFamily="18" charset="0"/>
              </a:rPr>
              <a:t>Does my idea have to be policy relevant? </a:t>
            </a:r>
          </a:p>
          <a:p>
            <a:pPr lvl="1"/>
            <a:r>
              <a:rPr lang="en-US" sz="1800" dirty="0">
                <a:latin typeface="Palatino Linotype" panose="02040502050505030304" pitchFamily="18" charset="0"/>
              </a:rPr>
              <a:t>It depends </a:t>
            </a:r>
          </a:p>
          <a:p>
            <a:pPr lvl="1"/>
            <a:r>
              <a:rPr lang="en-US" sz="1800" dirty="0">
                <a:latin typeface="Palatino Linotype" panose="02040502050505030304" pitchFamily="18" charset="0"/>
              </a:rPr>
              <a:t>Consider the U.S. mortality transition…</a:t>
            </a:r>
          </a:p>
        </p:txBody>
      </p:sp>
    </p:spTree>
    <p:extLst>
      <p:ext uri="{BB962C8B-B14F-4D97-AF65-F5344CB8AC3E}">
        <p14:creationId xmlns:p14="http://schemas.microsoft.com/office/powerpoint/2010/main" val="627897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4FA38-89F8-C1D5-8BFD-251F8F1084B4}"/>
              </a:ext>
            </a:extLst>
          </p:cNvPr>
          <p:cNvSpPr>
            <a:spLocks noGrp="1"/>
          </p:cNvSpPr>
          <p:nvPr>
            <p:ph idx="1"/>
          </p:nvPr>
        </p:nvSpPr>
        <p:spPr>
          <a:xfrm>
            <a:off x="114300" y="5185305"/>
            <a:ext cx="11963400" cy="1480670"/>
          </a:xfrm>
        </p:spPr>
        <p:txBody>
          <a:bodyPr>
            <a:normAutofit/>
          </a:bodyPr>
          <a:lstStyle/>
          <a:p>
            <a:r>
              <a:rPr lang="en-US" sz="2000" dirty="0">
                <a:latin typeface="Palatino Linotype" panose="02040502050505030304" pitchFamily="18" charset="0"/>
              </a:rPr>
              <a:t>Is there policy relevance to explaining the urban mortality transition?</a:t>
            </a:r>
          </a:p>
          <a:p>
            <a:r>
              <a:rPr lang="en-US" sz="2000" dirty="0">
                <a:latin typeface="Palatino Linotype" panose="02040502050505030304" pitchFamily="18" charset="0"/>
              </a:rPr>
              <a:t>Sure, maybe. But, trying to better understand what has been called “one of the most significant developments in the history of human welfare” is interesting in and of itself!</a:t>
            </a:r>
          </a:p>
          <a:p>
            <a:pPr lvl="1"/>
            <a:r>
              <a:rPr lang="en-US" sz="1800" dirty="0">
                <a:latin typeface="Palatino Linotype" panose="02040502050505030304" pitchFamily="18" charset="0"/>
              </a:rPr>
              <a:t>Don’t force a project to be policy relevant if it isn’t or, more importantly, doesn’t need to be</a:t>
            </a:r>
          </a:p>
        </p:txBody>
      </p:sp>
      <p:pic>
        <p:nvPicPr>
          <p:cNvPr id="4" name="Picture 3">
            <a:extLst>
              <a:ext uri="{FF2B5EF4-FFF2-40B4-BE49-F238E27FC236}">
                <a16:creationId xmlns:a16="http://schemas.microsoft.com/office/drawing/2014/main" id="{8D109DA4-3AC6-A082-3C00-2381934EC8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3442" y="192024"/>
            <a:ext cx="9784078" cy="4892039"/>
          </a:xfrm>
          <a:prstGeom prst="rect">
            <a:avLst/>
          </a:prstGeom>
          <a:noFill/>
          <a:ln>
            <a:noFill/>
          </a:ln>
        </p:spPr>
      </p:pic>
    </p:spTree>
    <p:extLst>
      <p:ext uri="{BB962C8B-B14F-4D97-AF65-F5344CB8AC3E}">
        <p14:creationId xmlns:p14="http://schemas.microsoft.com/office/powerpoint/2010/main" val="345727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ADACB-A546-F602-B973-DD3355AD84FE}"/>
              </a:ext>
            </a:extLst>
          </p:cNvPr>
          <p:cNvSpPr>
            <a:spLocks noGrp="1"/>
          </p:cNvSpPr>
          <p:nvPr>
            <p:ph idx="1"/>
          </p:nvPr>
        </p:nvSpPr>
        <p:spPr>
          <a:xfrm>
            <a:off x="0" y="998709"/>
            <a:ext cx="12192000" cy="4933049"/>
          </a:xfrm>
        </p:spPr>
        <p:txBody>
          <a:bodyPr>
            <a:noAutofit/>
          </a:bodyPr>
          <a:lstStyle/>
          <a:p>
            <a:r>
              <a:rPr lang="en-US" sz="2600" dirty="0">
                <a:latin typeface="Palatino Linotype" panose="02040502050505030304" pitchFamily="18" charset="0"/>
              </a:rPr>
              <a:t>Become an expert of the relevant literature. </a:t>
            </a:r>
          </a:p>
          <a:p>
            <a:pPr marL="0" indent="0">
              <a:buNone/>
            </a:pPr>
            <a:endParaRPr lang="en-US" sz="1200" dirty="0">
              <a:latin typeface="Palatino Linotype" panose="02040502050505030304" pitchFamily="18" charset="0"/>
            </a:endParaRPr>
          </a:p>
          <a:p>
            <a:r>
              <a:rPr lang="en-US" sz="2600" dirty="0">
                <a:latin typeface="Palatino Linotype" panose="02040502050505030304" pitchFamily="18" charset="0"/>
              </a:rPr>
              <a:t>How do I do this?</a:t>
            </a:r>
          </a:p>
          <a:p>
            <a:pPr lvl="1"/>
            <a:r>
              <a:rPr lang="en-US" dirty="0">
                <a:latin typeface="Palatino Linotype" panose="02040502050505030304" pitchFamily="18" charset="0"/>
              </a:rPr>
              <a:t>For each project, I create a literature-review binder</a:t>
            </a:r>
          </a:p>
          <a:p>
            <a:pPr marL="914400" lvl="2" indent="0">
              <a:lnSpc>
                <a:spcPct val="110000"/>
              </a:lnSpc>
              <a:spcBef>
                <a:spcPts val="0"/>
              </a:spcBef>
              <a:buNone/>
            </a:pPr>
            <a:r>
              <a:rPr lang="en-US" dirty="0">
                <a:latin typeface="Palatino Linotype" panose="02040502050505030304" pitchFamily="18" charset="0"/>
              </a:rPr>
              <a:t>1.) Start with econ-specific search engines (e.g., JSTOR, Econ Lit, NBER WP, etc.) before doing more general searches on engines such as Google Scholar</a:t>
            </a:r>
          </a:p>
          <a:p>
            <a:pPr marL="914400" lvl="2" indent="0">
              <a:buNone/>
            </a:pPr>
            <a:r>
              <a:rPr lang="en-US" dirty="0">
                <a:latin typeface="Palatino Linotype" panose="02040502050505030304" pitchFamily="18" charset="0"/>
              </a:rPr>
              <a:t>2.) Sort by theoretical vs. empirical</a:t>
            </a:r>
          </a:p>
          <a:p>
            <a:pPr marL="914400" lvl="2" indent="0">
              <a:buNone/>
            </a:pPr>
            <a:r>
              <a:rPr lang="en-US" dirty="0">
                <a:latin typeface="Palatino Linotype" panose="02040502050505030304" pitchFamily="18" charset="0"/>
              </a:rPr>
              <a:t>3.) Sort by how well the papers published</a:t>
            </a:r>
          </a:p>
          <a:p>
            <a:pPr marL="914400" lvl="2" indent="0">
              <a:buNone/>
            </a:pPr>
            <a:r>
              <a:rPr lang="en-US" dirty="0">
                <a:latin typeface="Palatino Linotype" panose="02040502050505030304" pitchFamily="18" charset="0"/>
              </a:rPr>
              <a:t>4.) Sort empirical papers by the credibility or type of research design</a:t>
            </a:r>
          </a:p>
          <a:p>
            <a:pPr lvl="3"/>
            <a:r>
              <a:rPr lang="en-US" dirty="0">
                <a:latin typeface="Palatino Linotype" panose="02040502050505030304" pitchFamily="18" charset="0"/>
              </a:rPr>
              <a:t>Cross-sectional vs. panel</a:t>
            </a:r>
          </a:p>
          <a:p>
            <a:pPr lvl="3"/>
            <a:r>
              <a:rPr lang="en-US" dirty="0">
                <a:latin typeface="Palatino Linotype" panose="02040502050505030304" pitchFamily="18" charset="0"/>
              </a:rPr>
              <a:t>IV vs. DD vs. RD</a:t>
            </a:r>
          </a:p>
          <a:p>
            <a:pPr marL="914400" lvl="2" indent="0">
              <a:buNone/>
            </a:pPr>
            <a:r>
              <a:rPr lang="en-US" dirty="0">
                <a:latin typeface="Palatino Linotype" panose="02040502050505030304" pitchFamily="18" charset="0"/>
              </a:rPr>
              <a:t>5.) AI can help with this process, but not a substitute </a:t>
            </a:r>
          </a:p>
          <a:p>
            <a:pPr marL="0" indent="0">
              <a:buNone/>
            </a:pPr>
            <a:endParaRPr lang="en-US" sz="1200" dirty="0">
              <a:latin typeface="Palatino Linotype" panose="02040502050505030304" pitchFamily="18" charset="0"/>
            </a:endParaRPr>
          </a:p>
          <a:p>
            <a:r>
              <a:rPr lang="en-US" sz="2600" dirty="0">
                <a:latin typeface="Palatino Linotype" panose="02040502050505030304" pitchFamily="18" charset="0"/>
              </a:rPr>
              <a:t>If you do this, you will know </a:t>
            </a:r>
            <a:r>
              <a:rPr lang="en-US" sz="2600" i="1" dirty="0">
                <a:latin typeface="Palatino Linotype" panose="02040502050505030304" pitchFamily="18" charset="0"/>
              </a:rPr>
              <a:t>exactly</a:t>
            </a:r>
            <a:r>
              <a:rPr lang="en-US" sz="2600" dirty="0">
                <a:latin typeface="Palatino Linotype" panose="02040502050505030304" pitchFamily="18" charset="0"/>
              </a:rPr>
              <a:t> how you are building on existing studies.</a:t>
            </a:r>
          </a:p>
          <a:p>
            <a:pPr marL="0" indent="0">
              <a:buNone/>
            </a:pPr>
            <a:endParaRPr lang="en-US" sz="1200" dirty="0">
              <a:latin typeface="Palatino Linotype" panose="02040502050505030304" pitchFamily="18" charset="0"/>
            </a:endParaRPr>
          </a:p>
          <a:p>
            <a:r>
              <a:rPr lang="en-US" sz="2600" dirty="0">
                <a:latin typeface="Palatino Linotype" panose="02040502050505030304" pitchFamily="18" charset="0"/>
              </a:rPr>
              <a:t>Do not learn the lesson the hard way…</a:t>
            </a:r>
          </a:p>
        </p:txBody>
      </p:sp>
      <p:sp>
        <p:nvSpPr>
          <p:cNvPr id="4" name="Title 1">
            <a:extLst>
              <a:ext uri="{FF2B5EF4-FFF2-40B4-BE49-F238E27FC236}">
                <a16:creationId xmlns:a16="http://schemas.microsoft.com/office/drawing/2014/main" id="{91220D1C-E9D7-9557-88B6-7A751D3FB880}"/>
              </a:ext>
            </a:extLst>
          </p:cNvPr>
          <p:cNvSpPr>
            <a:spLocks noGrp="1"/>
          </p:cNvSpPr>
          <p:nvPr>
            <p:ph type="title"/>
          </p:nvPr>
        </p:nvSpPr>
        <p:spPr>
          <a:xfrm>
            <a:off x="162698" y="172995"/>
            <a:ext cx="10675348" cy="825714"/>
          </a:xfrm>
        </p:spPr>
        <p:txBody>
          <a:bodyPr>
            <a:noAutofit/>
          </a:bodyPr>
          <a:lstStyle/>
          <a:p>
            <a:r>
              <a:rPr lang="en-US" sz="2800" b="1" dirty="0">
                <a:latin typeface="Palatino Linotype" panose="02040502050505030304" pitchFamily="18" charset="0"/>
              </a:rPr>
              <a:t>Hurdle #2. Are you filling a clearly defined gap in the literature?</a:t>
            </a:r>
          </a:p>
        </p:txBody>
      </p:sp>
    </p:spTree>
    <p:extLst>
      <p:ext uri="{BB962C8B-B14F-4D97-AF65-F5344CB8AC3E}">
        <p14:creationId xmlns:p14="http://schemas.microsoft.com/office/powerpoint/2010/main" val="11437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D46AE6-38A3-EE54-C635-9517BC441384}"/>
              </a:ext>
            </a:extLst>
          </p:cNvPr>
          <p:cNvPicPr>
            <a:picLocks noChangeAspect="1"/>
          </p:cNvPicPr>
          <p:nvPr/>
        </p:nvPicPr>
        <p:blipFill rotWithShape="1">
          <a:blip r:embed="rId2"/>
          <a:srcRect l="2525" t="18889" r="6263"/>
          <a:stretch/>
        </p:blipFill>
        <p:spPr>
          <a:xfrm>
            <a:off x="220547" y="496020"/>
            <a:ext cx="11073443" cy="5539020"/>
          </a:xfrm>
          <a:prstGeom prst="rect">
            <a:avLst/>
          </a:prstGeom>
        </p:spPr>
      </p:pic>
    </p:spTree>
    <p:extLst>
      <p:ext uri="{BB962C8B-B14F-4D97-AF65-F5344CB8AC3E}">
        <p14:creationId xmlns:p14="http://schemas.microsoft.com/office/powerpoint/2010/main" val="3752154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5ED5C4-DA56-7C8C-D810-38048D16E6B4}"/>
              </a:ext>
            </a:extLst>
          </p:cNvPr>
          <p:cNvSpPr>
            <a:spLocks noGrp="1"/>
          </p:cNvSpPr>
          <p:nvPr>
            <p:ph idx="1"/>
          </p:nvPr>
        </p:nvSpPr>
        <p:spPr>
          <a:xfrm>
            <a:off x="0" y="1505336"/>
            <a:ext cx="12192000" cy="5352664"/>
          </a:xfrm>
        </p:spPr>
        <p:txBody>
          <a:bodyPr>
            <a:normAutofit/>
          </a:bodyPr>
          <a:lstStyle/>
          <a:p>
            <a:r>
              <a:rPr lang="en-US" sz="2600" dirty="0">
                <a:latin typeface="Palatino Linotype" panose="02040502050505030304" pitchFamily="18" charset="0"/>
              </a:rPr>
              <a:t>Hardest hurdle. Do not assume the data exist…get on this yesterday!</a:t>
            </a:r>
          </a:p>
          <a:p>
            <a:pPr lvl="1"/>
            <a:r>
              <a:rPr lang="en-US" sz="2200" dirty="0">
                <a:latin typeface="Palatino Linotype" panose="02040502050505030304" pitchFamily="18" charset="0"/>
              </a:rPr>
              <a:t>Even if data exist, collecting/cleaning/etc. can be a heavy lift…get on this yesterday!</a:t>
            </a:r>
          </a:p>
          <a:p>
            <a:pPr marL="457200" lvl="1" indent="0">
              <a:buNone/>
            </a:pPr>
            <a:endParaRPr lang="en-US" sz="1000" dirty="0">
              <a:latin typeface="Palatino Linotype" panose="02040502050505030304" pitchFamily="18" charset="0"/>
            </a:endParaRPr>
          </a:p>
          <a:p>
            <a:r>
              <a:rPr lang="en-US" sz="2600" dirty="0">
                <a:latin typeface="Palatino Linotype" panose="02040502050505030304" pitchFamily="18" charset="0"/>
              </a:rPr>
              <a:t>Data on X and Y are available, but I do not have a well-defined natural experiment. Should I dump the idea?</a:t>
            </a:r>
          </a:p>
          <a:p>
            <a:pPr lvl="1"/>
            <a:r>
              <a:rPr lang="en-US" sz="2200" dirty="0">
                <a:latin typeface="Palatino Linotype" panose="02040502050505030304" pitchFamily="18" charset="0"/>
              </a:rPr>
              <a:t>As an econ grad student trying to write your JMP, you should probably dump it.</a:t>
            </a:r>
          </a:p>
          <a:p>
            <a:pPr lvl="1"/>
            <a:r>
              <a:rPr lang="en-US" sz="2200" dirty="0">
                <a:latin typeface="Palatino Linotype" panose="02040502050505030304" pitchFamily="18" charset="0"/>
              </a:rPr>
              <a:t>As a junior prof. trying to get tenure (in an economics dept), you should probably dump it.</a:t>
            </a:r>
          </a:p>
          <a:p>
            <a:pPr lvl="1"/>
            <a:r>
              <a:rPr lang="en-US" sz="2200" dirty="0">
                <a:latin typeface="Palatino Linotype" panose="02040502050505030304" pitchFamily="18" charset="0"/>
              </a:rPr>
              <a:t>Maybe you can pivot to a non-econ journal, but this takes time</a:t>
            </a:r>
          </a:p>
        </p:txBody>
      </p:sp>
      <p:sp>
        <p:nvSpPr>
          <p:cNvPr id="4" name="Title 1">
            <a:extLst>
              <a:ext uri="{FF2B5EF4-FFF2-40B4-BE49-F238E27FC236}">
                <a16:creationId xmlns:a16="http://schemas.microsoft.com/office/drawing/2014/main" id="{C393F127-8898-432C-E142-5B826F6546FC}"/>
              </a:ext>
            </a:extLst>
          </p:cNvPr>
          <p:cNvSpPr>
            <a:spLocks noGrp="1"/>
          </p:cNvSpPr>
          <p:nvPr>
            <p:ph type="title"/>
          </p:nvPr>
        </p:nvSpPr>
        <p:spPr>
          <a:xfrm>
            <a:off x="245075" y="446040"/>
            <a:ext cx="10515600" cy="949283"/>
          </a:xfrm>
        </p:spPr>
        <p:txBody>
          <a:bodyPr>
            <a:noAutofit/>
          </a:bodyPr>
          <a:lstStyle/>
          <a:p>
            <a:r>
              <a:rPr lang="en-US" sz="2800" b="1" dirty="0">
                <a:latin typeface="Palatino Linotype" panose="02040502050505030304" pitchFamily="18" charset="0"/>
              </a:rPr>
              <a:t>Hurdle #3. Are the data available? Does a well-defined natural experiment exist?</a:t>
            </a:r>
            <a:br>
              <a:rPr lang="en-US" sz="2800" b="1" dirty="0">
                <a:latin typeface="Palatino Linotype" panose="02040502050505030304" pitchFamily="18" charset="0"/>
              </a:rPr>
            </a:br>
            <a:endParaRPr lang="en-US" sz="2800" b="1" dirty="0">
              <a:latin typeface="Palatino Linotype" panose="02040502050505030304" pitchFamily="18" charset="0"/>
            </a:endParaRPr>
          </a:p>
        </p:txBody>
      </p:sp>
    </p:spTree>
    <p:extLst>
      <p:ext uri="{BB962C8B-B14F-4D97-AF65-F5344CB8AC3E}">
        <p14:creationId xmlns:p14="http://schemas.microsoft.com/office/powerpoint/2010/main" val="18595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D8F0A-1D4B-B3F6-5414-5527DF073A1B}"/>
              </a:ext>
            </a:extLst>
          </p:cNvPr>
          <p:cNvSpPr>
            <a:spLocks noGrp="1"/>
          </p:cNvSpPr>
          <p:nvPr>
            <p:ph idx="1"/>
          </p:nvPr>
        </p:nvSpPr>
        <p:spPr>
          <a:xfrm>
            <a:off x="0" y="975669"/>
            <a:ext cx="12192000" cy="4374291"/>
          </a:xfrm>
        </p:spPr>
        <p:txBody>
          <a:bodyPr>
            <a:normAutofit/>
          </a:bodyPr>
          <a:lstStyle/>
          <a:p>
            <a:pPr marL="0" indent="0" algn="ctr">
              <a:buNone/>
            </a:pPr>
            <a:r>
              <a:rPr lang="en-US" sz="2600" dirty="0">
                <a:latin typeface="Palatino Linotype" panose="02040502050505030304" pitchFamily="18" charset="0"/>
              </a:rPr>
              <a:t>Start with hypothesis of interest and then try to identify a natural experiment</a:t>
            </a:r>
          </a:p>
          <a:p>
            <a:pPr marL="0" indent="0" algn="ctr">
              <a:buNone/>
            </a:pPr>
            <a:r>
              <a:rPr lang="en-US" sz="2600" dirty="0">
                <a:latin typeface="Palatino Linotype" panose="02040502050505030304" pitchFamily="18" charset="0"/>
              </a:rPr>
              <a:t>vs.</a:t>
            </a:r>
          </a:p>
          <a:p>
            <a:pPr marL="0" indent="0" algn="ctr">
              <a:buNone/>
            </a:pPr>
            <a:r>
              <a:rPr lang="en-US" sz="2600" dirty="0">
                <a:latin typeface="Palatino Linotype" panose="02040502050505030304" pitchFamily="18" charset="0"/>
              </a:rPr>
              <a:t>Observe a natural experiment and then come up with a question</a:t>
            </a:r>
          </a:p>
          <a:p>
            <a:pPr lvl="1"/>
            <a:endParaRPr lang="en-US" sz="2000" dirty="0">
              <a:latin typeface="Palatino Linotype" panose="02040502050505030304" pitchFamily="18" charset="0"/>
            </a:endParaRPr>
          </a:p>
          <a:p>
            <a:r>
              <a:rPr lang="en-US" sz="2600" dirty="0">
                <a:latin typeface="Palatino Linotype" panose="02040502050505030304" pitchFamily="18" charset="0"/>
              </a:rPr>
              <a:t>Some “old-school” folks think the pure form of research is to do the former.</a:t>
            </a:r>
          </a:p>
          <a:p>
            <a:pPr lvl="1"/>
            <a:r>
              <a:rPr lang="en-US" sz="2200" dirty="0">
                <a:latin typeface="Palatino Linotype" panose="02040502050505030304" pitchFamily="18" charset="0"/>
              </a:rPr>
              <a:t>Impractical</a:t>
            </a:r>
          </a:p>
          <a:p>
            <a:pPr lvl="1"/>
            <a:r>
              <a:rPr lang="en-US" sz="2200" dirty="0">
                <a:latin typeface="Palatino Linotype" panose="02040502050505030304" pitchFamily="18" charset="0"/>
              </a:rPr>
              <a:t>Miss out on a lot of good topics</a:t>
            </a:r>
          </a:p>
          <a:p>
            <a:pPr lvl="1"/>
            <a:endParaRPr lang="en-US" sz="2000" dirty="0">
              <a:latin typeface="Palatino Linotype" panose="02040502050505030304" pitchFamily="18" charset="0"/>
            </a:endParaRPr>
          </a:p>
          <a:p>
            <a:r>
              <a:rPr lang="en-US" sz="2600" dirty="0">
                <a:latin typeface="Palatino Linotype" panose="02040502050505030304" pitchFamily="18" charset="0"/>
              </a:rPr>
              <a:t>Always have your natural experiment radar on…”one does not know where an inspiration will come from.”</a:t>
            </a:r>
          </a:p>
          <a:p>
            <a:endParaRPr lang="en-US" sz="2400" dirty="0">
              <a:latin typeface="Palatino Linotype" panose="02040502050505030304" pitchFamily="18" charset="0"/>
            </a:endParaRPr>
          </a:p>
        </p:txBody>
      </p:sp>
      <p:sp>
        <p:nvSpPr>
          <p:cNvPr id="4" name="Title 1">
            <a:extLst>
              <a:ext uri="{FF2B5EF4-FFF2-40B4-BE49-F238E27FC236}">
                <a16:creationId xmlns:a16="http://schemas.microsoft.com/office/drawing/2014/main" id="{68DF053C-A6E3-56AB-6303-020C00E0456A}"/>
              </a:ext>
            </a:extLst>
          </p:cNvPr>
          <p:cNvSpPr>
            <a:spLocks noGrp="1"/>
          </p:cNvSpPr>
          <p:nvPr>
            <p:ph type="title"/>
          </p:nvPr>
        </p:nvSpPr>
        <p:spPr>
          <a:xfrm>
            <a:off x="278027" y="133478"/>
            <a:ext cx="10515600" cy="842191"/>
          </a:xfrm>
        </p:spPr>
        <p:txBody>
          <a:bodyPr>
            <a:noAutofit/>
          </a:bodyPr>
          <a:lstStyle/>
          <a:p>
            <a:r>
              <a:rPr lang="en-US" sz="2800" dirty="0">
                <a:latin typeface="Palatino Linotype" panose="02040502050505030304" pitchFamily="18" charset="0"/>
              </a:rPr>
              <a:t>Hurdle #3 (continued)</a:t>
            </a:r>
          </a:p>
        </p:txBody>
      </p:sp>
    </p:spTree>
    <p:extLst>
      <p:ext uri="{BB962C8B-B14F-4D97-AF65-F5344CB8AC3E}">
        <p14:creationId xmlns:p14="http://schemas.microsoft.com/office/powerpoint/2010/main" val="341402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B6512-E541-4264-25FC-6A7FD98C7663}"/>
              </a:ext>
            </a:extLst>
          </p:cNvPr>
          <p:cNvSpPr>
            <a:spLocks noGrp="1"/>
          </p:cNvSpPr>
          <p:nvPr>
            <p:ph idx="1"/>
          </p:nvPr>
        </p:nvSpPr>
        <p:spPr>
          <a:xfrm>
            <a:off x="0" y="436605"/>
            <a:ext cx="11567160" cy="5740358"/>
          </a:xfrm>
        </p:spPr>
        <p:txBody>
          <a:bodyPr/>
          <a:lstStyle/>
          <a:p>
            <a:pPr marL="461963" lvl="1"/>
            <a:r>
              <a:rPr lang="en-US" sz="2600" dirty="0">
                <a:latin typeface="Palatino Linotype" panose="02040502050505030304" pitchFamily="18" charset="0"/>
              </a:rPr>
              <a:t>My trip with Dan Rees to the Smithsonian Museum of American History</a:t>
            </a: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r>
              <a:rPr lang="en-US" sz="2600" dirty="0">
                <a:latin typeface="Palatino Linotype" panose="02040502050505030304" pitchFamily="18" charset="0"/>
              </a:rPr>
              <a:t>“Lively discussions” with my wife</a:t>
            </a: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pPr lvl="1"/>
            <a:endParaRPr lang="en-US" sz="2000" dirty="0">
              <a:latin typeface="Palatino Linotype" panose="02040502050505030304" pitchFamily="18" charset="0"/>
            </a:endParaRPr>
          </a:p>
          <a:p>
            <a:endParaRPr lang="en-US" dirty="0"/>
          </a:p>
        </p:txBody>
      </p:sp>
      <p:sp>
        <p:nvSpPr>
          <p:cNvPr id="4" name="TextBox 3">
            <a:extLst>
              <a:ext uri="{FF2B5EF4-FFF2-40B4-BE49-F238E27FC236}">
                <a16:creationId xmlns:a16="http://schemas.microsoft.com/office/drawing/2014/main" id="{8ACB01B7-F58F-7430-8082-18F8A65179E1}"/>
              </a:ext>
            </a:extLst>
          </p:cNvPr>
          <p:cNvSpPr txBox="1"/>
          <p:nvPr/>
        </p:nvSpPr>
        <p:spPr>
          <a:xfrm>
            <a:off x="962526" y="1093150"/>
            <a:ext cx="5418505" cy="923330"/>
          </a:xfrm>
          <a:prstGeom prst="rect">
            <a:avLst/>
          </a:prstGeom>
          <a:noFill/>
        </p:spPr>
        <p:txBody>
          <a:bodyPr wrap="square" rtlCol="0">
            <a:spAutoFit/>
          </a:bodyPr>
          <a:lstStyle/>
          <a:p>
            <a:r>
              <a:rPr lang="en-US" u="sng" dirty="0">
                <a:latin typeface="Palatino Linotype" panose="02040502050505030304" pitchFamily="18" charset="0"/>
              </a:rPr>
              <a:t>Poor People’s Caravan </a:t>
            </a:r>
            <a:r>
              <a:rPr lang="en-US" dirty="0">
                <a:latin typeface="Palatino Linotype" panose="02040502050505030304" pitchFamily="18" charset="0"/>
              </a:rPr>
              <a:t>– March on D.C. to demand economic and human rights for poor Americans of diverse backgrounds in 1968.</a:t>
            </a:r>
          </a:p>
        </p:txBody>
      </p:sp>
      <p:pic>
        <p:nvPicPr>
          <p:cNvPr id="1026" name="Picture 2" descr="1968 Poor People's Campaign Caravan Routes | National Museum of African  American History and Culture">
            <a:extLst>
              <a:ext uri="{FF2B5EF4-FFF2-40B4-BE49-F238E27FC236}">
                <a16:creationId xmlns:a16="http://schemas.microsoft.com/office/drawing/2014/main" id="{51787462-DC14-6C7B-7688-885B1F87AA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45" b="4651"/>
          <a:stretch/>
        </p:blipFill>
        <p:spPr bwMode="auto">
          <a:xfrm>
            <a:off x="6467680" y="1010117"/>
            <a:ext cx="4100330" cy="23618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4BF2ABD-F2A3-4E71-3FB7-2EF885D21AB5}"/>
              </a:ext>
            </a:extLst>
          </p:cNvPr>
          <p:cNvPicPr>
            <a:picLocks noChangeAspect="1"/>
          </p:cNvPicPr>
          <p:nvPr/>
        </p:nvPicPr>
        <p:blipFill rotWithShape="1">
          <a:blip r:embed="rId3"/>
          <a:srcRect l="5298" t="7096" r="4917" b="2508"/>
          <a:stretch/>
        </p:blipFill>
        <p:spPr>
          <a:xfrm>
            <a:off x="315899" y="3762633"/>
            <a:ext cx="3521063" cy="2658762"/>
          </a:xfrm>
          <a:prstGeom prst="rect">
            <a:avLst/>
          </a:prstGeom>
        </p:spPr>
      </p:pic>
      <p:pic>
        <p:nvPicPr>
          <p:cNvPr id="10" name="Picture 9">
            <a:extLst>
              <a:ext uri="{FF2B5EF4-FFF2-40B4-BE49-F238E27FC236}">
                <a16:creationId xmlns:a16="http://schemas.microsoft.com/office/drawing/2014/main" id="{32158B96-7EAD-47A9-ADB7-BCFFC1E906C3}"/>
              </a:ext>
            </a:extLst>
          </p:cNvPr>
          <p:cNvPicPr>
            <a:picLocks noChangeAspect="1"/>
          </p:cNvPicPr>
          <p:nvPr/>
        </p:nvPicPr>
        <p:blipFill>
          <a:blip r:embed="rId4"/>
          <a:stretch>
            <a:fillRect/>
          </a:stretch>
        </p:blipFill>
        <p:spPr>
          <a:xfrm>
            <a:off x="7738018" y="3486006"/>
            <a:ext cx="4333103" cy="2054874"/>
          </a:xfrm>
          <a:prstGeom prst="rect">
            <a:avLst/>
          </a:prstGeom>
        </p:spPr>
      </p:pic>
      <p:pic>
        <p:nvPicPr>
          <p:cNvPr id="14" name="Picture 13">
            <a:extLst>
              <a:ext uri="{FF2B5EF4-FFF2-40B4-BE49-F238E27FC236}">
                <a16:creationId xmlns:a16="http://schemas.microsoft.com/office/drawing/2014/main" id="{CBA2AFB6-1757-5667-B079-7638731CCE15}"/>
              </a:ext>
            </a:extLst>
          </p:cNvPr>
          <p:cNvPicPr>
            <a:picLocks noChangeAspect="1"/>
          </p:cNvPicPr>
          <p:nvPr/>
        </p:nvPicPr>
        <p:blipFill>
          <a:blip r:embed="rId5"/>
          <a:stretch>
            <a:fillRect/>
          </a:stretch>
        </p:blipFill>
        <p:spPr>
          <a:xfrm>
            <a:off x="3836962" y="3856647"/>
            <a:ext cx="3762253" cy="1313589"/>
          </a:xfrm>
          <a:prstGeom prst="rect">
            <a:avLst/>
          </a:prstGeom>
        </p:spPr>
      </p:pic>
    </p:spTree>
    <p:extLst>
      <p:ext uri="{BB962C8B-B14F-4D97-AF65-F5344CB8AC3E}">
        <p14:creationId xmlns:p14="http://schemas.microsoft.com/office/powerpoint/2010/main" val="190269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7E245-4298-C1D0-EE35-A38CD913615B}"/>
              </a:ext>
            </a:extLst>
          </p:cNvPr>
          <p:cNvSpPr>
            <a:spLocks noGrp="1"/>
          </p:cNvSpPr>
          <p:nvPr>
            <p:ph idx="1"/>
          </p:nvPr>
        </p:nvSpPr>
        <p:spPr>
          <a:xfrm>
            <a:off x="96253" y="551935"/>
            <a:ext cx="11935326" cy="5625028"/>
          </a:xfrm>
        </p:spPr>
        <p:txBody>
          <a:bodyPr>
            <a:noAutofit/>
          </a:bodyPr>
          <a:lstStyle/>
          <a:p>
            <a:r>
              <a:rPr lang="en-US" sz="2600" dirty="0">
                <a:latin typeface="Palatino Linotype" panose="02040502050505030304" pitchFamily="18" charset="0"/>
              </a:rPr>
              <a:t>Bleakley and </a:t>
            </a:r>
            <a:r>
              <a:rPr lang="en-US" sz="2600" dirty="0" err="1">
                <a:latin typeface="Palatino Linotype" panose="02040502050505030304" pitchFamily="18" charset="0"/>
              </a:rPr>
              <a:t>Ferrie’s</a:t>
            </a:r>
            <a:r>
              <a:rPr lang="en-US" sz="2600" dirty="0">
                <a:latin typeface="Palatino Linotype" panose="02040502050505030304" pitchFamily="18" charset="0"/>
              </a:rPr>
              <a:t> QJE on Georgia land lotteries</a:t>
            </a: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endParaRPr lang="en-US" sz="2000" dirty="0">
              <a:latin typeface="Palatino Linotype" panose="02040502050505030304" pitchFamily="18" charset="0"/>
            </a:endParaRPr>
          </a:p>
          <a:p>
            <a:pPr marL="0" indent="0">
              <a:buNone/>
            </a:pPr>
            <a:endParaRPr lang="en-US" sz="2000" dirty="0">
              <a:latin typeface="Palatino Linotype" panose="02040502050505030304" pitchFamily="18" charset="0"/>
            </a:endParaRPr>
          </a:p>
          <a:p>
            <a:r>
              <a:rPr lang="en-US" sz="2600" dirty="0">
                <a:latin typeface="Garamond" panose="02020404030301010803" pitchFamily="18" charset="0"/>
              </a:rPr>
              <a:t>Read books!</a:t>
            </a:r>
          </a:p>
          <a:p>
            <a:r>
              <a:rPr lang="en-US" sz="2600" dirty="0">
                <a:latin typeface="Garamond" panose="02020404030301010803" pitchFamily="18" charset="0"/>
              </a:rPr>
              <a:t>But, most importantly, become an expert of institutional details, the historical context, etc. of your areas of interest.</a:t>
            </a:r>
          </a:p>
          <a:p>
            <a:pPr lvl="1"/>
            <a:r>
              <a:rPr lang="en-US" sz="2000" dirty="0">
                <a:latin typeface="Garamond" panose="02020404030301010803" pitchFamily="18" charset="0"/>
              </a:rPr>
              <a:t>Do this and ideas will naturally come!</a:t>
            </a:r>
          </a:p>
          <a:p>
            <a:endParaRPr lang="en-US" sz="2000" dirty="0">
              <a:latin typeface="Palatino Linotype" panose="02040502050505030304" pitchFamily="18" charset="0"/>
            </a:endParaRPr>
          </a:p>
          <a:p>
            <a:endParaRPr lang="en-US" dirty="0"/>
          </a:p>
        </p:txBody>
      </p:sp>
      <p:pic>
        <p:nvPicPr>
          <p:cNvPr id="6" name="Picture 5">
            <a:extLst>
              <a:ext uri="{FF2B5EF4-FFF2-40B4-BE49-F238E27FC236}">
                <a16:creationId xmlns:a16="http://schemas.microsoft.com/office/drawing/2014/main" id="{498D6BD9-386E-119C-B7EC-7E64828BF929}"/>
              </a:ext>
            </a:extLst>
          </p:cNvPr>
          <p:cNvPicPr>
            <a:picLocks noChangeAspect="1"/>
          </p:cNvPicPr>
          <p:nvPr/>
        </p:nvPicPr>
        <p:blipFill rotWithShape="1">
          <a:blip r:embed="rId2"/>
          <a:srcRect l="3353" t="9747" r="2752" b="4058"/>
          <a:stretch/>
        </p:blipFill>
        <p:spPr>
          <a:xfrm>
            <a:off x="3212756" y="1108576"/>
            <a:ext cx="4942611" cy="3900029"/>
          </a:xfrm>
          <a:prstGeom prst="rect">
            <a:avLst/>
          </a:prstGeom>
        </p:spPr>
      </p:pic>
    </p:spTree>
    <p:extLst>
      <p:ext uri="{BB962C8B-B14F-4D97-AF65-F5344CB8AC3E}">
        <p14:creationId xmlns:p14="http://schemas.microsoft.com/office/powerpoint/2010/main" val="175261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DB6459-C770-4086-8074-DB0543DF5B7A}"/>
              </a:ext>
            </a:extLst>
          </p:cNvPr>
          <p:cNvSpPr>
            <a:spLocks noGrp="1"/>
          </p:cNvSpPr>
          <p:nvPr>
            <p:ph idx="1"/>
          </p:nvPr>
        </p:nvSpPr>
        <p:spPr>
          <a:xfrm>
            <a:off x="1777145" y="220805"/>
            <a:ext cx="8725393" cy="5434149"/>
          </a:xfrm>
        </p:spPr>
        <p:txBody>
          <a:bodyPr>
            <a:normAutofit/>
          </a:bodyPr>
          <a:lstStyle/>
          <a:p>
            <a:r>
              <a:rPr lang="en-US" sz="2400" dirty="0">
                <a:latin typeface="Garamond" panose="02020404030301010803" pitchFamily="18" charset="0"/>
              </a:rPr>
              <a:t>If you can get over these 3 hurdles, you are off to the races!</a:t>
            </a:r>
          </a:p>
          <a:p>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a:p>
            <a:r>
              <a:rPr lang="en-US" sz="2400" dirty="0">
                <a:latin typeface="Garamond" panose="02020404030301010803" pitchFamily="18" charset="0"/>
              </a:rPr>
              <a:t>If you can’t, get back up, and go back to the drawing board.</a:t>
            </a:r>
          </a:p>
          <a:p>
            <a:endParaRPr lang="en-US" sz="2400" dirty="0"/>
          </a:p>
        </p:txBody>
      </p:sp>
      <p:pic>
        <p:nvPicPr>
          <p:cNvPr id="6" name="Picture 2" descr="What You Can Learn from the World's Greatest 400m Hurdler — Markovitz  Consulting">
            <a:extLst>
              <a:ext uri="{FF2B5EF4-FFF2-40B4-BE49-F238E27FC236}">
                <a16:creationId xmlns:a16="http://schemas.microsoft.com/office/drawing/2014/main" id="{504CE05E-2EF0-442B-899A-F0640D8D65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8778" y="690140"/>
            <a:ext cx="3899527" cy="23751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129981-EDDD-4299-B939-1A2B39E22417}"/>
              </a:ext>
            </a:extLst>
          </p:cNvPr>
          <p:cNvSpPr txBox="1"/>
          <p:nvPr/>
        </p:nvSpPr>
        <p:spPr>
          <a:xfrm>
            <a:off x="7768304" y="2603642"/>
            <a:ext cx="2168434" cy="461665"/>
          </a:xfrm>
          <a:prstGeom prst="rect">
            <a:avLst/>
          </a:prstGeom>
          <a:noFill/>
        </p:spPr>
        <p:txBody>
          <a:bodyPr wrap="square" rtlCol="0">
            <a:spAutoFit/>
          </a:bodyPr>
          <a:lstStyle/>
          <a:p>
            <a:r>
              <a:rPr lang="en-US" sz="1200" dirty="0">
                <a:latin typeface="Garamond" panose="02020404030301010803" pitchFamily="18" charset="0"/>
              </a:rPr>
              <a:t>Edwin Moses, the greatest 400m hurdler of all time</a:t>
            </a:r>
          </a:p>
        </p:txBody>
      </p:sp>
      <p:pic>
        <p:nvPicPr>
          <p:cNvPr id="1028" name="Picture 4">
            <a:extLst>
              <a:ext uri="{FF2B5EF4-FFF2-40B4-BE49-F238E27FC236}">
                <a16:creationId xmlns:a16="http://schemas.microsoft.com/office/drawing/2014/main" id="{F571A800-AABE-4523-B581-1E8D6EACF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7593" y="3792696"/>
            <a:ext cx="3301895" cy="2880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46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D89A4-B116-51AC-0C49-018CDBA5099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179E7F7-8EC6-8D71-7464-CE509A1B4941}"/>
              </a:ext>
            </a:extLst>
          </p:cNvPr>
          <p:cNvPicPr>
            <a:picLocks noChangeAspect="1"/>
          </p:cNvPicPr>
          <p:nvPr/>
        </p:nvPicPr>
        <p:blipFill rotWithShape="1">
          <a:blip r:embed="rId2"/>
          <a:srcRect l="37018" t="59131" r="36687" b="24809"/>
          <a:stretch>
            <a:fillRect/>
          </a:stretch>
        </p:blipFill>
        <p:spPr>
          <a:xfrm>
            <a:off x="4551871" y="2556476"/>
            <a:ext cx="3088258" cy="1061049"/>
          </a:xfrm>
          <a:prstGeom prst="rect">
            <a:avLst/>
          </a:prstGeom>
        </p:spPr>
      </p:pic>
      <p:sp>
        <p:nvSpPr>
          <p:cNvPr id="2" name="TextBox 1">
            <a:extLst>
              <a:ext uri="{FF2B5EF4-FFF2-40B4-BE49-F238E27FC236}">
                <a16:creationId xmlns:a16="http://schemas.microsoft.com/office/drawing/2014/main" id="{26516FFB-333C-FA1C-CC61-ADA76678D348}"/>
              </a:ext>
            </a:extLst>
          </p:cNvPr>
          <p:cNvSpPr txBox="1"/>
          <p:nvPr/>
        </p:nvSpPr>
        <p:spPr>
          <a:xfrm>
            <a:off x="2078966" y="763983"/>
            <a:ext cx="7755148" cy="800219"/>
          </a:xfrm>
          <a:prstGeom prst="rect">
            <a:avLst/>
          </a:prstGeom>
          <a:noFill/>
        </p:spPr>
        <p:txBody>
          <a:bodyPr wrap="square" rtlCol="0">
            <a:spAutoFit/>
          </a:bodyPr>
          <a:lstStyle/>
          <a:p>
            <a:pPr algn="ctr"/>
            <a:r>
              <a:rPr lang="en-US" sz="4600" b="1" dirty="0">
                <a:latin typeface="Palatino Linotype" panose="02040502050505030304" pitchFamily="18" charset="0"/>
              </a:rPr>
              <a:t>Hidden Curriculum</a:t>
            </a:r>
          </a:p>
        </p:txBody>
      </p:sp>
      <p:sp>
        <p:nvSpPr>
          <p:cNvPr id="4" name="Title 1">
            <a:extLst>
              <a:ext uri="{FF2B5EF4-FFF2-40B4-BE49-F238E27FC236}">
                <a16:creationId xmlns:a16="http://schemas.microsoft.com/office/drawing/2014/main" id="{73715A5F-DB23-BF8E-2C08-A80C63DA1351}"/>
              </a:ext>
            </a:extLst>
          </p:cNvPr>
          <p:cNvSpPr txBox="1">
            <a:spLocks/>
          </p:cNvSpPr>
          <p:nvPr/>
        </p:nvSpPr>
        <p:spPr>
          <a:xfrm>
            <a:off x="1750540" y="4879377"/>
            <a:ext cx="8690919" cy="71913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Palatino Linotype" panose="02040502050505030304" pitchFamily="18" charset="0"/>
              </a:rPr>
              <a:t>Starting your research project:</a:t>
            </a:r>
          </a:p>
          <a:p>
            <a:r>
              <a:rPr lang="en-US" sz="2800" dirty="0">
                <a:latin typeface="Palatino Linotype" panose="02040502050505030304" pitchFamily="18" charset="0"/>
              </a:rPr>
              <a:t>When to call it quits</a:t>
            </a:r>
          </a:p>
        </p:txBody>
      </p:sp>
    </p:spTree>
    <p:extLst>
      <p:ext uri="{BB962C8B-B14F-4D97-AF65-F5344CB8AC3E}">
        <p14:creationId xmlns:p14="http://schemas.microsoft.com/office/powerpoint/2010/main" val="686553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A4FE93-53C9-DC86-640E-E217EAF94753}"/>
              </a:ext>
            </a:extLst>
          </p:cNvPr>
          <p:cNvSpPr>
            <a:spLocks noGrp="1"/>
          </p:cNvSpPr>
          <p:nvPr>
            <p:ph idx="1"/>
          </p:nvPr>
        </p:nvSpPr>
        <p:spPr>
          <a:xfrm>
            <a:off x="77002" y="1106905"/>
            <a:ext cx="12021954" cy="5014762"/>
          </a:xfrm>
        </p:spPr>
        <p:txBody>
          <a:bodyPr/>
          <a:lstStyle/>
          <a:p>
            <a:pPr marL="0" indent="0">
              <a:buNone/>
            </a:pPr>
            <a:r>
              <a:rPr lang="en-US" dirty="0">
                <a:latin typeface="Palatino Linotype" panose="02040502050505030304" pitchFamily="18" charset="0"/>
              </a:rPr>
              <a:t>"If I started with a hundred ideas, I'm lucky if two or three of those ideas will ever turn into academic papers. One of my great skills as an economist has been to recognize the need to fail quickly and the willingness to jettison a project as soon as I realize it's likely to fail."</a:t>
            </a:r>
          </a:p>
          <a:p>
            <a:pPr marL="0" indent="0" algn="r">
              <a:buNone/>
            </a:pPr>
            <a:r>
              <a:rPr lang="en-US" dirty="0">
                <a:latin typeface="Palatino Linotype" panose="02040502050505030304" pitchFamily="18" charset="0"/>
              </a:rPr>
              <a:t>— Steven Levitt, </a:t>
            </a:r>
            <a:r>
              <a:rPr lang="en-US" i="1" dirty="0">
                <a:latin typeface="Palatino Linotype" panose="02040502050505030304" pitchFamily="18" charset="0"/>
              </a:rPr>
              <a:t>Freakonomics</a:t>
            </a:r>
            <a:r>
              <a:rPr lang="en-US" dirty="0">
                <a:latin typeface="Palatino Linotype" panose="02040502050505030304" pitchFamily="18" charset="0"/>
              </a:rPr>
              <a:t> podcast, "The Upside of Quitting“</a:t>
            </a:r>
          </a:p>
          <a:p>
            <a:pPr marL="0" indent="0" algn="r">
              <a:buNone/>
            </a:pPr>
            <a:br>
              <a:rPr lang="en-US" dirty="0">
                <a:latin typeface="Palatino Linotype" panose="02040502050505030304" pitchFamily="18" charset="0"/>
              </a:rPr>
            </a:br>
            <a:endParaRPr lang="en-US" dirty="0">
              <a:latin typeface="Palatino Linotype" panose="02040502050505030304" pitchFamily="18" charset="0"/>
            </a:endParaRPr>
          </a:p>
          <a:p>
            <a:pPr marL="0" indent="0">
              <a:buNone/>
            </a:pPr>
            <a:r>
              <a:rPr lang="en-US" dirty="0">
                <a:latin typeface="Palatino Linotype" panose="02040502050505030304" pitchFamily="18" charset="0"/>
              </a:rPr>
              <a:t>"Society teaches us 'quitters never win and winners never quit,' but in reality, the data from my experiment suggests we would all be better off if we did more quitting."</a:t>
            </a:r>
          </a:p>
          <a:p>
            <a:pPr marL="0" indent="0" algn="r">
              <a:buNone/>
            </a:pPr>
            <a:r>
              <a:rPr lang="en-US" dirty="0">
                <a:latin typeface="Palatino Linotype" panose="02040502050505030304" pitchFamily="18" charset="0"/>
              </a:rPr>
              <a:t>— Steven Levitt, </a:t>
            </a:r>
            <a:r>
              <a:rPr lang="en-US" i="1" dirty="0">
                <a:latin typeface="Palatino Linotype" panose="02040502050505030304" pitchFamily="18" charset="0"/>
              </a:rPr>
              <a:t>Review of Economic Studies</a:t>
            </a:r>
            <a:r>
              <a:rPr lang="en-US" dirty="0">
                <a:latin typeface="Palatino Linotype" panose="02040502050505030304" pitchFamily="18" charset="0"/>
              </a:rPr>
              <a:t> (2020)</a:t>
            </a:r>
          </a:p>
          <a:p>
            <a:endParaRPr lang="en-US" dirty="0"/>
          </a:p>
        </p:txBody>
      </p:sp>
    </p:spTree>
    <p:extLst>
      <p:ext uri="{BB962C8B-B14F-4D97-AF65-F5344CB8AC3E}">
        <p14:creationId xmlns:p14="http://schemas.microsoft.com/office/powerpoint/2010/main" val="217368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82DC3-2377-B39A-3986-DB51A2ADE602}"/>
              </a:ext>
            </a:extLst>
          </p:cNvPr>
          <p:cNvSpPr>
            <a:spLocks noGrp="1"/>
          </p:cNvSpPr>
          <p:nvPr>
            <p:ph type="title"/>
          </p:nvPr>
        </p:nvSpPr>
        <p:spPr>
          <a:xfrm>
            <a:off x="203886" y="239347"/>
            <a:ext cx="10515600" cy="883380"/>
          </a:xfrm>
        </p:spPr>
        <p:txBody>
          <a:bodyPr>
            <a:normAutofit/>
          </a:bodyPr>
          <a:lstStyle/>
          <a:p>
            <a:r>
              <a:rPr lang="en-US" sz="3600" dirty="0">
                <a:latin typeface="Palatino Linotype" panose="02040502050505030304" pitchFamily="18" charset="0"/>
              </a:rPr>
              <a:t>When to cut the cord on a project</a:t>
            </a:r>
          </a:p>
        </p:txBody>
      </p:sp>
      <p:sp>
        <p:nvSpPr>
          <p:cNvPr id="3" name="Content Placeholder 2">
            <a:extLst>
              <a:ext uri="{FF2B5EF4-FFF2-40B4-BE49-F238E27FC236}">
                <a16:creationId xmlns:a16="http://schemas.microsoft.com/office/drawing/2014/main" id="{D4962908-EC15-7D5B-A5D3-29A465580137}"/>
              </a:ext>
            </a:extLst>
          </p:cNvPr>
          <p:cNvSpPr>
            <a:spLocks noGrp="1"/>
          </p:cNvSpPr>
          <p:nvPr>
            <p:ph idx="1"/>
          </p:nvPr>
        </p:nvSpPr>
        <p:spPr>
          <a:xfrm>
            <a:off x="0" y="1334530"/>
            <a:ext cx="12192000" cy="4842433"/>
          </a:xfrm>
        </p:spPr>
        <p:txBody>
          <a:bodyPr>
            <a:normAutofit/>
          </a:bodyPr>
          <a:lstStyle/>
          <a:p>
            <a:r>
              <a:rPr lang="en-US" sz="2600" b="1" i="1" dirty="0">
                <a:latin typeface="Palatino Linotype" panose="02040502050505030304" pitchFamily="18" charset="0"/>
              </a:rPr>
              <a:t>You’ve cleared the 3 hurdles</a:t>
            </a:r>
            <a:r>
              <a:rPr lang="en-US" sz="2600" dirty="0">
                <a:latin typeface="Palatino Linotype" panose="02040502050505030304" pitchFamily="18" charset="0"/>
              </a:rPr>
              <a:t>, but when do I call it quits?  </a:t>
            </a:r>
          </a:p>
          <a:p>
            <a:pPr lvl="1"/>
            <a:r>
              <a:rPr lang="en-US" sz="2200" dirty="0">
                <a:latin typeface="Palatino Linotype" panose="02040502050505030304" pitchFamily="18" charset="0"/>
              </a:rPr>
              <a:t>This can be a make-it or break-it decision</a:t>
            </a:r>
          </a:p>
          <a:p>
            <a:pPr lvl="2"/>
            <a:r>
              <a:rPr lang="en-US" sz="1800" dirty="0">
                <a:latin typeface="Palatino Linotype" panose="02040502050505030304" pitchFamily="18" charset="0"/>
              </a:rPr>
              <a:t>Graduate student trying to come up with a great JMP</a:t>
            </a:r>
          </a:p>
          <a:p>
            <a:pPr lvl="2"/>
            <a:r>
              <a:rPr lang="en-US" sz="1800" dirty="0">
                <a:latin typeface="Palatino Linotype" panose="02040502050505030304" pitchFamily="18" charset="0"/>
              </a:rPr>
              <a:t>Jr. prof. trying to get tenure</a:t>
            </a:r>
          </a:p>
          <a:p>
            <a:pPr lvl="2"/>
            <a:r>
              <a:rPr lang="en-US" sz="1800" dirty="0">
                <a:latin typeface="Palatino Linotype" panose="02040502050505030304" pitchFamily="18" charset="0"/>
              </a:rPr>
              <a:t>Old, tenured professor trying to spend more time fly fishing</a:t>
            </a:r>
          </a:p>
          <a:p>
            <a:pPr marL="457200" lvl="1" indent="0">
              <a:buNone/>
            </a:pPr>
            <a:endParaRPr lang="en-US" sz="1000" dirty="0">
              <a:latin typeface="Palatino Linotype" panose="02040502050505030304" pitchFamily="18" charset="0"/>
            </a:endParaRPr>
          </a:p>
          <a:p>
            <a:r>
              <a:rPr lang="en-US" sz="2600" dirty="0">
                <a:latin typeface="Palatino Linotype" panose="02040502050505030304" pitchFamily="18" charset="0"/>
              </a:rPr>
              <a:t>When does this come up?</a:t>
            </a:r>
          </a:p>
          <a:p>
            <a:pPr lvl="1"/>
            <a:r>
              <a:rPr lang="en-US" sz="2200" dirty="0">
                <a:latin typeface="Palatino Linotype" panose="02040502050505030304" pitchFamily="18" charset="0"/>
              </a:rPr>
              <a:t>1.) Null results</a:t>
            </a:r>
          </a:p>
          <a:p>
            <a:pPr lvl="1"/>
            <a:r>
              <a:rPr lang="en-US" sz="2200" dirty="0">
                <a:latin typeface="Palatino Linotype" panose="02040502050505030304" pitchFamily="18" charset="0"/>
              </a:rPr>
              <a:t>2.) Cannot identify mechanisms</a:t>
            </a:r>
          </a:p>
          <a:p>
            <a:pPr lvl="1"/>
            <a:r>
              <a:rPr lang="en-US" sz="2200" dirty="0">
                <a:latin typeface="Palatino Linotype" panose="02040502050505030304" pitchFamily="18" charset="0"/>
              </a:rPr>
              <a:t>3.) Something better comes along</a:t>
            </a:r>
          </a:p>
        </p:txBody>
      </p:sp>
    </p:spTree>
    <p:extLst>
      <p:ext uri="{BB962C8B-B14F-4D97-AF65-F5344CB8AC3E}">
        <p14:creationId xmlns:p14="http://schemas.microsoft.com/office/powerpoint/2010/main" val="79123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1867-F495-63D3-C5D2-66C173352EF1}"/>
              </a:ext>
            </a:extLst>
          </p:cNvPr>
          <p:cNvSpPr>
            <a:spLocks noGrp="1"/>
          </p:cNvSpPr>
          <p:nvPr>
            <p:ph type="title"/>
          </p:nvPr>
        </p:nvSpPr>
        <p:spPr>
          <a:xfrm>
            <a:off x="162697" y="406807"/>
            <a:ext cx="10515600" cy="776288"/>
          </a:xfrm>
        </p:spPr>
        <p:txBody>
          <a:bodyPr>
            <a:normAutofit/>
          </a:bodyPr>
          <a:lstStyle/>
          <a:p>
            <a:r>
              <a:rPr lang="en-US" sz="3600" dirty="0">
                <a:latin typeface="Palatino Linotype" panose="02040502050505030304" pitchFamily="18" charset="0"/>
              </a:rPr>
              <a:t>The Null Result</a:t>
            </a:r>
          </a:p>
        </p:txBody>
      </p:sp>
      <p:sp>
        <p:nvSpPr>
          <p:cNvPr id="3" name="Content Placeholder 2">
            <a:extLst>
              <a:ext uri="{FF2B5EF4-FFF2-40B4-BE49-F238E27FC236}">
                <a16:creationId xmlns:a16="http://schemas.microsoft.com/office/drawing/2014/main" id="{5F3CBB1C-A920-48D2-4896-4C1A2F8A651D}"/>
              </a:ext>
            </a:extLst>
          </p:cNvPr>
          <p:cNvSpPr>
            <a:spLocks noGrp="1"/>
          </p:cNvSpPr>
          <p:nvPr>
            <p:ph idx="1"/>
          </p:nvPr>
        </p:nvSpPr>
        <p:spPr>
          <a:xfrm>
            <a:off x="253465" y="1411008"/>
            <a:ext cx="11685069" cy="4623165"/>
          </a:xfrm>
        </p:spPr>
        <p:txBody>
          <a:bodyPr>
            <a:normAutofit lnSpcReduction="10000"/>
          </a:bodyPr>
          <a:lstStyle/>
          <a:p>
            <a:r>
              <a:rPr lang="en-US" sz="2600" dirty="0">
                <a:latin typeface="Palatino Linotype" panose="02040502050505030304" pitchFamily="18" charset="0"/>
              </a:rPr>
              <a:t>Zero is a number too! But is it always interesting?</a:t>
            </a:r>
          </a:p>
          <a:p>
            <a:pPr lvl="1"/>
            <a:r>
              <a:rPr lang="en-US" sz="2200" dirty="0">
                <a:latin typeface="Palatino Linotype" panose="02040502050505030304" pitchFamily="18" charset="0"/>
              </a:rPr>
              <a:t>No effect of minimum wage hike on unemployment</a:t>
            </a:r>
          </a:p>
          <a:p>
            <a:pPr lvl="2"/>
            <a:r>
              <a:rPr lang="en-US" sz="1800" dirty="0">
                <a:latin typeface="Palatino Linotype" panose="02040502050505030304" pitchFamily="18" charset="0"/>
              </a:rPr>
              <a:t>Interesting and policy relevant zero.</a:t>
            </a:r>
          </a:p>
          <a:p>
            <a:pPr lvl="1"/>
            <a:r>
              <a:rPr lang="en-US" sz="2200" dirty="0">
                <a:latin typeface="Palatino Linotype" panose="02040502050505030304" pitchFamily="18" charset="0"/>
              </a:rPr>
              <a:t>Prenatal exposure to the Super Bowl and low birth weight (Duncan et al. 2017, </a:t>
            </a:r>
            <a:r>
              <a:rPr lang="en-US" sz="2200" i="1" dirty="0">
                <a:latin typeface="Palatino Linotype" panose="02040502050505030304" pitchFamily="18" charset="0"/>
              </a:rPr>
              <a:t>JHR</a:t>
            </a:r>
            <a:r>
              <a:rPr lang="en-US" sz="2200" dirty="0">
                <a:latin typeface="Palatino Linotype" panose="02040502050505030304" pitchFamily="18" charset="0"/>
              </a:rPr>
              <a:t>) or minimum wages and traffic fatalities (Adams et al. 2012, </a:t>
            </a:r>
            <a:r>
              <a:rPr lang="en-US" sz="2200" i="1" dirty="0">
                <a:latin typeface="Palatino Linotype" panose="02040502050505030304" pitchFamily="18" charset="0"/>
              </a:rPr>
              <a:t>RESTAT</a:t>
            </a:r>
            <a:r>
              <a:rPr lang="en-US" sz="2200" dirty="0">
                <a:latin typeface="Palatino Linotype" panose="02040502050505030304" pitchFamily="18" charset="0"/>
              </a:rPr>
              <a:t>)?</a:t>
            </a:r>
          </a:p>
          <a:p>
            <a:pPr lvl="2"/>
            <a:r>
              <a:rPr lang="en-US" sz="1800" dirty="0">
                <a:latin typeface="Palatino Linotype" panose="02040502050505030304" pitchFamily="18" charset="0"/>
              </a:rPr>
              <a:t>Probably only interesting if you find an effect.</a:t>
            </a:r>
          </a:p>
          <a:p>
            <a:pPr lvl="2"/>
            <a:r>
              <a:rPr lang="en-US" sz="1800" dirty="0">
                <a:latin typeface="Palatino Linotype" panose="02040502050505030304" pitchFamily="18" charset="0"/>
              </a:rPr>
              <a:t>High risk-high reward projects</a:t>
            </a:r>
          </a:p>
          <a:p>
            <a:pPr lvl="3"/>
            <a:r>
              <a:rPr lang="en-US" dirty="0">
                <a:latin typeface="Palatino Linotype" panose="02040502050505030304" pitchFamily="18" charset="0"/>
              </a:rPr>
              <a:t>Null effect would not make for a good JMP</a:t>
            </a:r>
          </a:p>
          <a:p>
            <a:pPr lvl="3"/>
            <a:r>
              <a:rPr lang="en-US" dirty="0">
                <a:latin typeface="Palatino Linotype" panose="02040502050505030304" pitchFamily="18" charset="0"/>
              </a:rPr>
              <a:t>Null effect would not publish well.</a:t>
            </a:r>
          </a:p>
          <a:p>
            <a:pPr lvl="3"/>
            <a:r>
              <a:rPr lang="en-US" dirty="0">
                <a:latin typeface="Palatino Linotype" panose="02040502050505030304" pitchFamily="18" charset="0"/>
              </a:rPr>
              <a:t>Does this cause a type of file-drawer bias?  Sure.</a:t>
            </a:r>
          </a:p>
          <a:p>
            <a:pPr lvl="4"/>
            <a:r>
              <a:rPr lang="en-US" sz="1600" dirty="0">
                <a:latin typeface="Palatino Linotype" panose="02040502050505030304" pitchFamily="18" charset="0"/>
              </a:rPr>
              <a:t>Be practical when weighing the trade-offs between which projects to pursue and which ones to quit.</a:t>
            </a:r>
          </a:p>
          <a:p>
            <a:pPr marL="1371600" lvl="3" indent="0">
              <a:buNone/>
            </a:pPr>
            <a:endParaRPr lang="en-US" sz="1000" dirty="0">
              <a:latin typeface="Palatino Linotype" panose="02040502050505030304" pitchFamily="18" charset="0"/>
            </a:endParaRPr>
          </a:p>
          <a:p>
            <a:r>
              <a:rPr lang="en-US" sz="2600" dirty="0">
                <a:latin typeface="Palatino Linotype" panose="02040502050505030304" pitchFamily="18" charset="0"/>
              </a:rPr>
              <a:t>Zero is a number too! But only if it is precise.</a:t>
            </a:r>
          </a:p>
          <a:p>
            <a:pPr lvl="1"/>
            <a:r>
              <a:rPr lang="en-US" sz="2200" dirty="0">
                <a:latin typeface="Palatino Linotype" panose="02040502050505030304" pitchFamily="18" charset="0"/>
              </a:rPr>
              <a:t>Big difference between pitching a tight vs. noisy zero.</a:t>
            </a:r>
          </a:p>
          <a:p>
            <a:pPr lvl="2"/>
            <a:r>
              <a:rPr lang="en-US" sz="1800" dirty="0">
                <a:latin typeface="Palatino Linotype" panose="02040502050505030304" pitchFamily="18" charset="0"/>
              </a:rPr>
              <a:t>If 95% CI contains large values on either side of zero, we do not learn much.</a:t>
            </a:r>
          </a:p>
          <a:p>
            <a:pPr marL="457200" lvl="1" indent="0">
              <a:buNone/>
            </a:pPr>
            <a:endParaRPr lang="en-US" sz="1000" dirty="0">
              <a:latin typeface="Palatino Linotype" panose="02040502050505030304" pitchFamily="18" charset="0"/>
            </a:endParaRPr>
          </a:p>
        </p:txBody>
      </p:sp>
    </p:spTree>
    <p:extLst>
      <p:ext uri="{BB962C8B-B14F-4D97-AF65-F5344CB8AC3E}">
        <p14:creationId xmlns:p14="http://schemas.microsoft.com/office/powerpoint/2010/main" val="144432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528EF3-F8B2-1141-0C0D-47655F40B73F}"/>
              </a:ext>
            </a:extLst>
          </p:cNvPr>
          <p:cNvSpPr>
            <a:spLocks noGrp="1"/>
          </p:cNvSpPr>
          <p:nvPr>
            <p:ph type="title"/>
          </p:nvPr>
        </p:nvSpPr>
        <p:spPr>
          <a:xfrm>
            <a:off x="74322" y="65014"/>
            <a:ext cx="10515600" cy="767579"/>
          </a:xfrm>
        </p:spPr>
        <p:txBody>
          <a:bodyPr>
            <a:normAutofit/>
          </a:bodyPr>
          <a:lstStyle/>
          <a:p>
            <a:r>
              <a:rPr lang="en-US" sz="3600" dirty="0">
                <a:latin typeface="Palatino Linotype" panose="02040502050505030304" pitchFamily="18" charset="0"/>
              </a:rPr>
              <a:t>The Null Result</a:t>
            </a:r>
          </a:p>
        </p:txBody>
      </p:sp>
      <p:pic>
        <p:nvPicPr>
          <p:cNvPr id="6" name="Picture 5">
            <a:extLst>
              <a:ext uri="{FF2B5EF4-FFF2-40B4-BE49-F238E27FC236}">
                <a16:creationId xmlns:a16="http://schemas.microsoft.com/office/drawing/2014/main" id="{910306E6-641E-6C6F-1A7F-A0F7E0395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22" y="1364896"/>
            <a:ext cx="5616427" cy="3665538"/>
          </a:xfrm>
          <a:prstGeom prst="rect">
            <a:avLst/>
          </a:prstGeom>
        </p:spPr>
      </p:pic>
      <p:pic>
        <p:nvPicPr>
          <p:cNvPr id="8" name="Picture 7">
            <a:extLst>
              <a:ext uri="{FF2B5EF4-FFF2-40B4-BE49-F238E27FC236}">
                <a16:creationId xmlns:a16="http://schemas.microsoft.com/office/drawing/2014/main" id="{AA1D5D3A-8A2B-EA9A-23D2-38798855F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7397" y="721356"/>
            <a:ext cx="5594222" cy="4284936"/>
          </a:xfrm>
          <a:prstGeom prst="rect">
            <a:avLst/>
          </a:prstGeom>
        </p:spPr>
      </p:pic>
      <p:sp>
        <p:nvSpPr>
          <p:cNvPr id="9" name="TextBox 8">
            <a:extLst>
              <a:ext uri="{FF2B5EF4-FFF2-40B4-BE49-F238E27FC236}">
                <a16:creationId xmlns:a16="http://schemas.microsoft.com/office/drawing/2014/main" id="{739433B0-3A22-EA96-12EA-D6E08E86A635}"/>
              </a:ext>
            </a:extLst>
          </p:cNvPr>
          <p:cNvSpPr txBox="1"/>
          <p:nvPr/>
        </p:nvSpPr>
        <p:spPr>
          <a:xfrm>
            <a:off x="148045" y="868223"/>
            <a:ext cx="4572000" cy="400110"/>
          </a:xfrm>
          <a:prstGeom prst="rect">
            <a:avLst/>
          </a:prstGeom>
          <a:noFill/>
        </p:spPr>
        <p:txBody>
          <a:bodyPr wrap="square" rtlCol="0">
            <a:spAutoFit/>
          </a:bodyPr>
          <a:lstStyle/>
          <a:p>
            <a:r>
              <a:rPr lang="en-US" sz="2000" dirty="0">
                <a:latin typeface="Palatino Linotype" panose="02040502050505030304" pitchFamily="18" charset="0"/>
              </a:rPr>
              <a:t>Precise zeros can publish well</a:t>
            </a:r>
          </a:p>
        </p:txBody>
      </p:sp>
      <p:sp>
        <p:nvSpPr>
          <p:cNvPr id="10" name="TextBox 9">
            <a:extLst>
              <a:ext uri="{FF2B5EF4-FFF2-40B4-BE49-F238E27FC236}">
                <a16:creationId xmlns:a16="http://schemas.microsoft.com/office/drawing/2014/main" id="{D629B479-B41B-C8A9-1960-A5708855B0E2}"/>
              </a:ext>
            </a:extLst>
          </p:cNvPr>
          <p:cNvSpPr txBox="1"/>
          <p:nvPr/>
        </p:nvSpPr>
        <p:spPr>
          <a:xfrm>
            <a:off x="5627397" y="278784"/>
            <a:ext cx="4572000" cy="400110"/>
          </a:xfrm>
          <a:prstGeom prst="rect">
            <a:avLst/>
          </a:prstGeom>
          <a:noFill/>
        </p:spPr>
        <p:txBody>
          <a:bodyPr wrap="square" rtlCol="0">
            <a:spAutoFit/>
          </a:bodyPr>
          <a:lstStyle/>
          <a:p>
            <a:r>
              <a:rPr lang="en-US" sz="2000" dirty="0">
                <a:latin typeface="Palatino Linotype" panose="02040502050505030304" pitchFamily="18" charset="0"/>
              </a:rPr>
              <a:t>Imprecise zeros, not as well</a:t>
            </a:r>
          </a:p>
        </p:txBody>
      </p:sp>
      <p:sp>
        <p:nvSpPr>
          <p:cNvPr id="12" name="TextBox 11">
            <a:extLst>
              <a:ext uri="{FF2B5EF4-FFF2-40B4-BE49-F238E27FC236}">
                <a16:creationId xmlns:a16="http://schemas.microsoft.com/office/drawing/2014/main" id="{1DE6D0D5-E077-7278-FD8A-F2BCC16041DF}"/>
              </a:ext>
            </a:extLst>
          </p:cNvPr>
          <p:cNvSpPr txBox="1"/>
          <p:nvPr/>
        </p:nvSpPr>
        <p:spPr>
          <a:xfrm>
            <a:off x="74322" y="5103674"/>
            <a:ext cx="11615170" cy="1107996"/>
          </a:xfrm>
          <a:prstGeom prst="rect">
            <a:avLst/>
          </a:prstGeom>
          <a:noFill/>
        </p:spPr>
        <p:txBody>
          <a:bodyPr wrap="square">
            <a:spAutoFit/>
          </a:bodyPr>
          <a:lstStyle/>
          <a:p>
            <a:pPr marL="342900" indent="-342900">
              <a:buFont typeface="Arial" panose="020B0604020202020204" pitchFamily="34" charset="0"/>
              <a:buChar char="•"/>
            </a:pPr>
            <a:r>
              <a:rPr lang="en-US" sz="2600" dirty="0">
                <a:latin typeface="Palatino Linotype" panose="02040502050505030304" pitchFamily="18" charset="0"/>
              </a:rPr>
              <a:t>If null is interesting/policy relevant and precise, then proceed!</a:t>
            </a:r>
          </a:p>
          <a:p>
            <a:pPr lvl="1"/>
            <a:r>
              <a:rPr lang="en-US" sz="2000" dirty="0">
                <a:latin typeface="Palatino Linotype" panose="02040502050505030304" pitchFamily="18" charset="0"/>
              </a:rPr>
              <a:t>	-But know that the burden of proof can be much higher.</a:t>
            </a:r>
          </a:p>
          <a:p>
            <a:pPr lvl="1"/>
            <a:r>
              <a:rPr lang="en-US" sz="2000" dirty="0">
                <a:latin typeface="Palatino Linotype" panose="02040502050505030304" pitchFamily="18" charset="0"/>
              </a:rPr>
              <a:t>	-We discuss framing a precise zero in detail in the Hidden Curriculum</a:t>
            </a:r>
          </a:p>
        </p:txBody>
      </p:sp>
    </p:spTree>
    <p:extLst>
      <p:ext uri="{BB962C8B-B14F-4D97-AF65-F5344CB8AC3E}">
        <p14:creationId xmlns:p14="http://schemas.microsoft.com/office/powerpoint/2010/main" val="74008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4525D-2151-6101-6B38-E85880A2D59D}"/>
              </a:ext>
            </a:extLst>
          </p:cNvPr>
          <p:cNvSpPr>
            <a:spLocks noGrp="1"/>
          </p:cNvSpPr>
          <p:nvPr>
            <p:ph type="title"/>
          </p:nvPr>
        </p:nvSpPr>
        <p:spPr>
          <a:xfrm>
            <a:off x="154459" y="333632"/>
            <a:ext cx="10515600" cy="912213"/>
          </a:xfrm>
        </p:spPr>
        <p:txBody>
          <a:bodyPr>
            <a:normAutofit/>
          </a:bodyPr>
          <a:lstStyle/>
          <a:p>
            <a:r>
              <a:rPr lang="en-US" sz="3600" dirty="0">
                <a:latin typeface="Palatino Linotype" panose="02040502050505030304" pitchFamily="18" charset="0"/>
              </a:rPr>
              <a:t>Identifying Mechanisms</a:t>
            </a:r>
          </a:p>
        </p:txBody>
      </p:sp>
      <p:sp>
        <p:nvSpPr>
          <p:cNvPr id="3" name="Content Placeholder 2">
            <a:extLst>
              <a:ext uri="{FF2B5EF4-FFF2-40B4-BE49-F238E27FC236}">
                <a16:creationId xmlns:a16="http://schemas.microsoft.com/office/drawing/2014/main" id="{E1F646CF-8A07-C68C-C48C-962B4D7E0108}"/>
              </a:ext>
            </a:extLst>
          </p:cNvPr>
          <p:cNvSpPr>
            <a:spLocks noGrp="1"/>
          </p:cNvSpPr>
          <p:nvPr>
            <p:ph idx="1"/>
          </p:nvPr>
        </p:nvSpPr>
        <p:spPr>
          <a:xfrm>
            <a:off x="0" y="1245845"/>
            <a:ext cx="12191999" cy="5451517"/>
          </a:xfrm>
        </p:spPr>
        <p:txBody>
          <a:bodyPr/>
          <a:lstStyle/>
          <a:p>
            <a:r>
              <a:rPr lang="en-US" sz="2600" dirty="0">
                <a:latin typeface="Palatino Linotype" panose="02040502050505030304" pitchFamily="18" charset="0"/>
              </a:rPr>
              <a:t>Suppose you have a great natural experiment but can’t pin down mechanism(s).</a:t>
            </a:r>
          </a:p>
          <a:p>
            <a:pPr lvl="1"/>
            <a:r>
              <a:rPr lang="en-US" sz="2200" dirty="0">
                <a:latin typeface="Palatino Linotype" panose="02040502050505030304" pitchFamily="18" charset="0"/>
              </a:rPr>
              <a:t>Death sentence?</a:t>
            </a:r>
          </a:p>
          <a:p>
            <a:pPr lvl="2"/>
            <a:r>
              <a:rPr lang="en-US" sz="1800" dirty="0">
                <a:latin typeface="Palatino Linotype" panose="02040502050505030304" pitchFamily="18" charset="0"/>
              </a:rPr>
              <a:t>Not necessarily!  It depends on the topic…</a:t>
            </a:r>
          </a:p>
          <a:p>
            <a:pPr marL="914400" lvl="2" indent="0">
              <a:buNone/>
            </a:pPr>
            <a:endParaRPr lang="en-US" sz="1000" dirty="0">
              <a:latin typeface="Palatino Linotype" panose="02040502050505030304" pitchFamily="18" charset="0"/>
            </a:endParaRPr>
          </a:p>
          <a:p>
            <a:r>
              <a:rPr lang="en-US" sz="2600" dirty="0">
                <a:latin typeface="Palatino Linotype" panose="02040502050505030304" pitchFamily="18" charset="0"/>
              </a:rPr>
              <a:t>Medical marijuana laws (MMLs) </a:t>
            </a:r>
            <a:r>
              <a:rPr lang="en-US" sz="2600" dirty="0">
                <a:latin typeface="Garamond" panose="02020404030301010803" pitchFamily="18" charset="0"/>
              </a:rPr>
              <a:t>→ </a:t>
            </a:r>
            <a:r>
              <a:rPr lang="en-US" sz="2600" dirty="0">
                <a:latin typeface="Palatino Linotype" panose="02040502050505030304" pitchFamily="18" charset="0"/>
              </a:rPr>
              <a:t>traffic fatalities (Anderson et al. 2013, </a:t>
            </a:r>
            <a:r>
              <a:rPr lang="en-US" sz="2600" i="1" dirty="0">
                <a:latin typeface="Palatino Linotype" panose="02040502050505030304" pitchFamily="18" charset="0"/>
              </a:rPr>
              <a:t>J of Law and Econ</a:t>
            </a:r>
            <a:r>
              <a:rPr lang="en-US" sz="2600" dirty="0">
                <a:latin typeface="Palatino Linotype" panose="02040502050505030304" pitchFamily="18" charset="0"/>
              </a:rPr>
              <a:t>)</a:t>
            </a:r>
          </a:p>
          <a:p>
            <a:pPr lvl="1"/>
            <a:r>
              <a:rPr lang="en-US" sz="2200" dirty="0">
                <a:latin typeface="Palatino Linotype" panose="02040502050505030304" pitchFamily="18" charset="0"/>
              </a:rPr>
              <a:t>MMLs </a:t>
            </a:r>
            <a:r>
              <a:rPr lang="en-US" sz="2000" dirty="0">
                <a:latin typeface="Garamond" panose="02020404030301010803" pitchFamily="18" charset="0"/>
              </a:rPr>
              <a:t>→ </a:t>
            </a:r>
            <a:r>
              <a:rPr lang="en-US" sz="2200" dirty="0">
                <a:latin typeface="Palatino Linotype" panose="02040502050505030304" pitchFamily="18" charset="0"/>
              </a:rPr>
              <a:t>8 to 11% decrease in traffic fatalities</a:t>
            </a:r>
          </a:p>
          <a:p>
            <a:pPr lvl="1"/>
            <a:r>
              <a:rPr lang="en-US" sz="2200" dirty="0">
                <a:latin typeface="Palatino Linotype" panose="02040502050505030304" pitchFamily="18" charset="0"/>
              </a:rPr>
              <a:t>Effect driven by alcohol-related crashes</a:t>
            </a:r>
          </a:p>
          <a:p>
            <a:pPr lvl="2"/>
            <a:r>
              <a:rPr lang="en-US" sz="1800" dirty="0">
                <a:latin typeface="Palatino Linotype" panose="02040502050505030304" pitchFamily="18" charset="0"/>
              </a:rPr>
              <a:t>Plus, beer sales and self-reports of binge drinking fall</a:t>
            </a:r>
          </a:p>
          <a:p>
            <a:pPr lvl="1"/>
            <a:r>
              <a:rPr lang="en-US" sz="2200" dirty="0">
                <a:latin typeface="Palatino Linotype" panose="02040502050505030304" pitchFamily="18" charset="0"/>
              </a:rPr>
              <a:t>Without shedding light on mechanism, would not have published very well.</a:t>
            </a:r>
          </a:p>
          <a:p>
            <a:pPr lvl="2"/>
            <a:r>
              <a:rPr lang="en-US" sz="1800" dirty="0">
                <a:latin typeface="Palatino Linotype" panose="02040502050505030304" pitchFamily="18" charset="0"/>
              </a:rPr>
              <a:t>An ok, but not great, job market paper.</a:t>
            </a:r>
          </a:p>
          <a:p>
            <a:pPr lvl="1"/>
            <a:endParaRPr lang="en-US" sz="2000" dirty="0">
              <a:latin typeface="Palatino Linotype" panose="02040502050505030304" pitchFamily="18" charset="0"/>
            </a:endParaRPr>
          </a:p>
          <a:p>
            <a:pPr marL="457200" lvl="1" indent="0">
              <a:buNone/>
            </a:pPr>
            <a:endParaRPr lang="en-US" sz="1000" dirty="0">
              <a:latin typeface="Palatino Linotype" panose="02040502050505030304" pitchFamily="18" charset="0"/>
            </a:endParaRPr>
          </a:p>
          <a:p>
            <a:pPr lvl="1"/>
            <a:endParaRPr lang="en-US" sz="1000" dirty="0">
              <a:latin typeface="Palatino Linotype" panose="02040502050505030304" pitchFamily="18" charset="0"/>
            </a:endParaRPr>
          </a:p>
          <a:p>
            <a:pPr lvl="1"/>
            <a:endParaRPr lang="en-US" sz="2000" dirty="0">
              <a:latin typeface="Palatino Linotype" panose="02040502050505030304" pitchFamily="18" charset="0"/>
            </a:endParaRPr>
          </a:p>
        </p:txBody>
      </p:sp>
    </p:spTree>
    <p:extLst>
      <p:ext uri="{BB962C8B-B14F-4D97-AF65-F5344CB8AC3E}">
        <p14:creationId xmlns:p14="http://schemas.microsoft.com/office/powerpoint/2010/main" val="244833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AC7A1-663A-C416-C582-61ABC571ADA8}"/>
              </a:ext>
            </a:extLst>
          </p:cNvPr>
          <p:cNvSpPr>
            <a:spLocks noGrp="1"/>
          </p:cNvSpPr>
          <p:nvPr>
            <p:ph type="title"/>
          </p:nvPr>
        </p:nvSpPr>
        <p:spPr>
          <a:xfrm>
            <a:off x="82378" y="300166"/>
            <a:ext cx="11205519" cy="825715"/>
          </a:xfrm>
        </p:spPr>
        <p:txBody>
          <a:bodyPr>
            <a:normAutofit/>
          </a:bodyPr>
          <a:lstStyle/>
          <a:p>
            <a:r>
              <a:rPr lang="en-US" sz="3600" dirty="0">
                <a:latin typeface="Palatino Linotype" panose="02040502050505030304" pitchFamily="18" charset="0"/>
              </a:rPr>
              <a:t>Identifying Mechanisms</a:t>
            </a:r>
            <a:endParaRPr lang="en-US" sz="3600" dirty="0"/>
          </a:p>
        </p:txBody>
      </p:sp>
      <p:sp>
        <p:nvSpPr>
          <p:cNvPr id="3" name="Content Placeholder 2">
            <a:extLst>
              <a:ext uri="{FF2B5EF4-FFF2-40B4-BE49-F238E27FC236}">
                <a16:creationId xmlns:a16="http://schemas.microsoft.com/office/drawing/2014/main" id="{5A5A3992-A13D-33BF-DA2D-42688FC0FAEA}"/>
              </a:ext>
            </a:extLst>
          </p:cNvPr>
          <p:cNvSpPr>
            <a:spLocks noGrp="1"/>
          </p:cNvSpPr>
          <p:nvPr>
            <p:ph idx="1"/>
          </p:nvPr>
        </p:nvSpPr>
        <p:spPr>
          <a:xfrm>
            <a:off x="0" y="1125881"/>
            <a:ext cx="12192000" cy="4031006"/>
          </a:xfrm>
        </p:spPr>
        <p:txBody>
          <a:bodyPr>
            <a:noAutofit/>
          </a:bodyPr>
          <a:lstStyle/>
          <a:p>
            <a:r>
              <a:rPr lang="en-US" sz="2600" dirty="0">
                <a:latin typeface="Palatino Linotype" panose="02040502050505030304" pitchFamily="18" charset="0"/>
              </a:rPr>
              <a:t>Military deployments </a:t>
            </a:r>
            <a:r>
              <a:rPr lang="en-US" sz="2600" dirty="0">
                <a:latin typeface="Garamond" panose="02020404030301010803" pitchFamily="18" charset="0"/>
              </a:rPr>
              <a:t>→ </a:t>
            </a:r>
            <a:r>
              <a:rPr lang="en-US" sz="2600" dirty="0">
                <a:latin typeface="Palatino Linotype" panose="02040502050505030304" pitchFamily="18" charset="0"/>
              </a:rPr>
              <a:t>crime (Anderson and Rees 2015, </a:t>
            </a:r>
            <a:r>
              <a:rPr lang="en-US" sz="2600" i="1" dirty="0">
                <a:latin typeface="Palatino Linotype" panose="02040502050505030304" pitchFamily="18" charset="0"/>
              </a:rPr>
              <a:t>J of Law and Econ</a:t>
            </a:r>
            <a:r>
              <a:rPr lang="en-US" sz="2600" dirty="0">
                <a:latin typeface="Palatino Linotype" panose="02040502050505030304" pitchFamily="18" charset="0"/>
              </a:rPr>
              <a:t>)</a:t>
            </a:r>
          </a:p>
          <a:p>
            <a:pPr lvl="1"/>
            <a:r>
              <a:rPr lang="en-US" sz="2200" dirty="0">
                <a:latin typeface="Palatino Linotype" panose="02040502050505030304" pitchFamily="18" charset="0"/>
              </a:rPr>
              <a:t>Increases in never-deployed combat brigades at Fort Carson, CO </a:t>
            </a:r>
            <a:r>
              <a:rPr lang="en-US" sz="2200" dirty="0">
                <a:latin typeface="Garamond" panose="02020404030301010803" pitchFamily="18" charset="0"/>
              </a:rPr>
              <a:t>→ </a:t>
            </a:r>
            <a:r>
              <a:rPr lang="en-US" sz="2200" dirty="0">
                <a:latin typeface="Palatino Linotype" panose="02040502050505030304" pitchFamily="18" charset="0"/>
              </a:rPr>
              <a:t>more violent crime</a:t>
            </a:r>
          </a:p>
          <a:p>
            <a:pPr lvl="1"/>
            <a:r>
              <a:rPr lang="en-US" sz="2200" dirty="0">
                <a:latin typeface="Palatino Linotype" panose="02040502050505030304" pitchFamily="18" charset="0"/>
              </a:rPr>
              <a:t>In contrast, previously deployed brigades do not cause crime</a:t>
            </a:r>
          </a:p>
          <a:p>
            <a:pPr lvl="1"/>
            <a:r>
              <a:rPr lang="en-US" sz="2200" dirty="0">
                <a:latin typeface="Palatino Linotype" panose="02040502050505030304" pitchFamily="18" charset="0"/>
              </a:rPr>
              <a:t>Never-deployed units represent a greater threat to public safety…why?  </a:t>
            </a:r>
          </a:p>
          <a:p>
            <a:pPr lvl="2"/>
            <a:r>
              <a:rPr lang="en-US" sz="1900" dirty="0">
                <a:latin typeface="Palatino Linotype" panose="02040502050505030304" pitchFamily="18" charset="0"/>
              </a:rPr>
              <a:t>Unable to say much</a:t>
            </a:r>
          </a:p>
          <a:p>
            <a:pPr lvl="2"/>
            <a:r>
              <a:rPr lang="en-US" sz="1900" dirty="0">
                <a:latin typeface="Palatino Linotype" panose="02040502050505030304" pitchFamily="18" charset="0"/>
              </a:rPr>
              <a:t>But (interesting) results ran counter to common perception and paper published well</a:t>
            </a:r>
          </a:p>
          <a:p>
            <a:pPr marL="914400" lvl="2" indent="0">
              <a:buNone/>
            </a:pPr>
            <a:endParaRPr lang="en-US" sz="1000" dirty="0">
              <a:latin typeface="Palatino Linotype" panose="02040502050505030304" pitchFamily="18" charset="0"/>
            </a:endParaRPr>
          </a:p>
          <a:p>
            <a:r>
              <a:rPr lang="en-US" sz="2600" dirty="0">
                <a:latin typeface="Palatino Linotype" panose="02040502050505030304" pitchFamily="18" charset="0"/>
              </a:rPr>
              <a:t>Medical marijuana laws (MMLs) </a:t>
            </a:r>
            <a:r>
              <a:rPr lang="en-US" sz="2600" dirty="0">
                <a:latin typeface="Garamond" panose="02020404030301010803" pitchFamily="18" charset="0"/>
              </a:rPr>
              <a:t>→ </a:t>
            </a:r>
            <a:r>
              <a:rPr lang="en-US" sz="2600" dirty="0">
                <a:latin typeface="Palatino Linotype" panose="02040502050505030304" pitchFamily="18" charset="0"/>
              </a:rPr>
              <a:t>suicide (Anderson et al. 2014, </a:t>
            </a:r>
            <a:r>
              <a:rPr lang="en-US" sz="2600" i="1" dirty="0">
                <a:latin typeface="Palatino Linotype" panose="02040502050505030304" pitchFamily="18" charset="0"/>
              </a:rPr>
              <a:t>American J of Public Health</a:t>
            </a:r>
            <a:r>
              <a:rPr lang="en-US" sz="2600" dirty="0">
                <a:latin typeface="Palatino Linotype" panose="02040502050505030304" pitchFamily="18" charset="0"/>
              </a:rPr>
              <a:t>)</a:t>
            </a:r>
          </a:p>
          <a:p>
            <a:pPr lvl="1"/>
            <a:r>
              <a:rPr lang="en-US" sz="2200" dirty="0">
                <a:latin typeface="Palatino Linotype" panose="02040502050505030304" pitchFamily="18" charset="0"/>
              </a:rPr>
              <a:t>MMLs </a:t>
            </a:r>
            <a:r>
              <a:rPr lang="en-US" sz="2200" dirty="0">
                <a:latin typeface="Garamond" panose="02020404030301010803" pitchFamily="18" charset="0"/>
              </a:rPr>
              <a:t>→ </a:t>
            </a:r>
            <a:r>
              <a:rPr lang="en-US" sz="2200" dirty="0">
                <a:latin typeface="Palatino Linotype" panose="02040502050505030304" pitchFamily="18" charset="0"/>
              </a:rPr>
              <a:t>reductions in suicides among young adult males</a:t>
            </a:r>
          </a:p>
          <a:p>
            <a:pPr lvl="1"/>
            <a:r>
              <a:rPr lang="en-US" sz="2200" dirty="0">
                <a:latin typeface="Palatino Linotype" panose="02040502050505030304" pitchFamily="18" charset="0"/>
              </a:rPr>
              <a:t>Policy relevant?  Yes.</a:t>
            </a:r>
          </a:p>
          <a:p>
            <a:pPr lvl="1"/>
            <a:r>
              <a:rPr lang="en-US" sz="2200" dirty="0">
                <a:latin typeface="Palatino Linotype" panose="02040502050505030304" pitchFamily="18" charset="0"/>
              </a:rPr>
              <a:t>General interest (within econ) without mechanism(s)?  Probably not.</a:t>
            </a:r>
          </a:p>
          <a:p>
            <a:pPr lvl="2"/>
            <a:r>
              <a:rPr lang="en-US" sz="1800" dirty="0">
                <a:latin typeface="Palatino Linotype" panose="02040502050505030304" pitchFamily="18" charset="0"/>
              </a:rPr>
              <a:t>Low ceiling within econ journals</a:t>
            </a:r>
          </a:p>
          <a:p>
            <a:pPr lvl="2"/>
            <a:r>
              <a:rPr lang="en-US" sz="1800" dirty="0">
                <a:latin typeface="Palatino Linotype" panose="02040502050505030304" pitchFamily="18" charset="0"/>
              </a:rPr>
              <a:t>Not a great JMP</a:t>
            </a:r>
          </a:p>
          <a:p>
            <a:pPr lvl="1"/>
            <a:r>
              <a:rPr lang="en-US" sz="2200" dirty="0">
                <a:latin typeface="Palatino Linotype" panose="02040502050505030304" pitchFamily="18" charset="0"/>
              </a:rPr>
              <a:t>Recommendation:  Move on or pivot to a non-economics journal</a:t>
            </a:r>
          </a:p>
          <a:p>
            <a:pPr lvl="2"/>
            <a:r>
              <a:rPr lang="en-US" sz="1800" dirty="0">
                <a:latin typeface="Palatino Linotype" panose="02040502050505030304" pitchFamily="18" charset="0"/>
              </a:rPr>
              <a:t>Flagship journal in public health</a:t>
            </a:r>
          </a:p>
        </p:txBody>
      </p:sp>
    </p:spTree>
    <p:extLst>
      <p:ext uri="{BB962C8B-B14F-4D97-AF65-F5344CB8AC3E}">
        <p14:creationId xmlns:p14="http://schemas.microsoft.com/office/powerpoint/2010/main" val="257005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300650-FC0D-B09E-7331-AE0AFD4741B9}"/>
              </a:ext>
            </a:extLst>
          </p:cNvPr>
          <p:cNvSpPr>
            <a:spLocks noGrp="1"/>
          </p:cNvSpPr>
          <p:nvPr>
            <p:ph idx="1"/>
          </p:nvPr>
        </p:nvSpPr>
        <p:spPr>
          <a:xfrm>
            <a:off x="0" y="1268626"/>
            <a:ext cx="12191999" cy="5276058"/>
          </a:xfrm>
        </p:spPr>
        <p:txBody>
          <a:bodyPr/>
          <a:lstStyle/>
          <a:p>
            <a:r>
              <a:rPr lang="en-US" sz="2600" dirty="0">
                <a:latin typeface="Palatino Linotype" panose="02040502050505030304" pitchFamily="18" charset="0"/>
              </a:rPr>
              <a:t>Try to gauge early whether you will be able to address underlying mechanisms.</a:t>
            </a:r>
          </a:p>
          <a:p>
            <a:pPr lvl="1"/>
            <a:r>
              <a:rPr lang="en-US" sz="2200" dirty="0">
                <a:latin typeface="Palatino Linotype" panose="02040502050505030304" pitchFamily="18" charset="0"/>
              </a:rPr>
              <a:t>Maybe consider this hurdle #4.</a:t>
            </a:r>
          </a:p>
          <a:p>
            <a:pPr marL="0" indent="0">
              <a:buNone/>
            </a:pPr>
            <a:endParaRPr lang="en-US" sz="1000" dirty="0">
              <a:latin typeface="Palatino Linotype" panose="02040502050505030304" pitchFamily="18" charset="0"/>
            </a:endParaRPr>
          </a:p>
          <a:p>
            <a:r>
              <a:rPr lang="en-US" sz="2600" dirty="0">
                <a:latin typeface="Palatino Linotype" panose="02040502050505030304" pitchFamily="18" charset="0"/>
              </a:rPr>
              <a:t>Try to gauge early just how crucial it will be to address underlying mechanisms.</a:t>
            </a:r>
          </a:p>
          <a:p>
            <a:pPr marL="0" indent="0">
              <a:buNone/>
            </a:pPr>
            <a:endParaRPr lang="en-US" sz="1000" dirty="0">
              <a:latin typeface="Palatino Linotype" panose="02040502050505030304" pitchFamily="18" charset="0"/>
            </a:endParaRPr>
          </a:p>
          <a:p>
            <a:r>
              <a:rPr lang="en-US" sz="2600" dirty="0">
                <a:latin typeface="Palatino Linotype" panose="02040502050505030304" pitchFamily="18" charset="0"/>
              </a:rPr>
              <a:t>If you end up sinking a lot of time into a project and cannot address mechanisms, you can pivot to a non-economics journal (more on this later)</a:t>
            </a:r>
          </a:p>
          <a:p>
            <a:pPr marL="0" indent="0">
              <a:buNone/>
            </a:pPr>
            <a:endParaRPr lang="en-US" dirty="0"/>
          </a:p>
        </p:txBody>
      </p:sp>
      <p:sp>
        <p:nvSpPr>
          <p:cNvPr id="4" name="Title 1">
            <a:extLst>
              <a:ext uri="{FF2B5EF4-FFF2-40B4-BE49-F238E27FC236}">
                <a16:creationId xmlns:a16="http://schemas.microsoft.com/office/drawing/2014/main" id="{2C52A503-4C01-8EB4-D0A1-FF1A944E8730}"/>
              </a:ext>
            </a:extLst>
          </p:cNvPr>
          <p:cNvSpPr>
            <a:spLocks noGrp="1"/>
          </p:cNvSpPr>
          <p:nvPr>
            <p:ph type="title"/>
          </p:nvPr>
        </p:nvSpPr>
        <p:spPr>
          <a:xfrm>
            <a:off x="156519" y="313316"/>
            <a:ext cx="10515600" cy="735442"/>
          </a:xfrm>
        </p:spPr>
        <p:txBody>
          <a:bodyPr>
            <a:normAutofit/>
          </a:bodyPr>
          <a:lstStyle/>
          <a:p>
            <a:r>
              <a:rPr lang="en-US" sz="3600" dirty="0">
                <a:latin typeface="Palatino Linotype" panose="02040502050505030304" pitchFamily="18" charset="0"/>
              </a:rPr>
              <a:t>Identifying Mechanisms</a:t>
            </a:r>
            <a:endParaRPr lang="en-US" sz="3600" dirty="0"/>
          </a:p>
        </p:txBody>
      </p:sp>
    </p:spTree>
    <p:extLst>
      <p:ext uri="{BB962C8B-B14F-4D97-AF65-F5344CB8AC3E}">
        <p14:creationId xmlns:p14="http://schemas.microsoft.com/office/powerpoint/2010/main" val="54969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A0-BDA0-C136-8D44-0B961C4DE21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396CEB4-77B3-A155-AF58-C2DC54310259}"/>
              </a:ext>
            </a:extLst>
          </p:cNvPr>
          <p:cNvPicPr>
            <a:picLocks noChangeAspect="1"/>
          </p:cNvPicPr>
          <p:nvPr/>
        </p:nvPicPr>
        <p:blipFill rotWithShape="1">
          <a:blip r:embed="rId2"/>
          <a:srcRect l="37018" t="59131" r="36687" b="24809"/>
          <a:stretch>
            <a:fillRect/>
          </a:stretch>
        </p:blipFill>
        <p:spPr>
          <a:xfrm>
            <a:off x="4551871" y="2556476"/>
            <a:ext cx="3088258" cy="1061049"/>
          </a:xfrm>
          <a:prstGeom prst="rect">
            <a:avLst/>
          </a:prstGeom>
        </p:spPr>
      </p:pic>
      <p:sp>
        <p:nvSpPr>
          <p:cNvPr id="2" name="TextBox 1">
            <a:extLst>
              <a:ext uri="{FF2B5EF4-FFF2-40B4-BE49-F238E27FC236}">
                <a16:creationId xmlns:a16="http://schemas.microsoft.com/office/drawing/2014/main" id="{A779D686-DAE1-9776-0BC5-B6BD43D6330B}"/>
              </a:ext>
            </a:extLst>
          </p:cNvPr>
          <p:cNvSpPr txBox="1"/>
          <p:nvPr/>
        </p:nvSpPr>
        <p:spPr>
          <a:xfrm>
            <a:off x="2078966" y="763983"/>
            <a:ext cx="7755148" cy="800219"/>
          </a:xfrm>
          <a:prstGeom prst="rect">
            <a:avLst/>
          </a:prstGeom>
          <a:noFill/>
        </p:spPr>
        <p:txBody>
          <a:bodyPr wrap="square" rtlCol="0">
            <a:spAutoFit/>
          </a:bodyPr>
          <a:lstStyle/>
          <a:p>
            <a:pPr algn="ctr"/>
            <a:r>
              <a:rPr lang="en-US" sz="4600" b="1" dirty="0">
                <a:latin typeface="Palatino Linotype" panose="02040502050505030304" pitchFamily="18" charset="0"/>
              </a:rPr>
              <a:t>Hidden Curriculum</a:t>
            </a:r>
          </a:p>
        </p:txBody>
      </p:sp>
      <p:sp>
        <p:nvSpPr>
          <p:cNvPr id="3" name="Title 1">
            <a:extLst>
              <a:ext uri="{FF2B5EF4-FFF2-40B4-BE49-F238E27FC236}">
                <a16:creationId xmlns:a16="http://schemas.microsoft.com/office/drawing/2014/main" id="{9EFE20A8-A095-EC18-67F2-0A88DE97EF53}"/>
              </a:ext>
            </a:extLst>
          </p:cNvPr>
          <p:cNvSpPr txBox="1">
            <a:spLocks/>
          </p:cNvSpPr>
          <p:nvPr/>
        </p:nvSpPr>
        <p:spPr>
          <a:xfrm>
            <a:off x="1936747" y="4743685"/>
            <a:ext cx="8690919" cy="71913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dirty="0">
                <a:latin typeface="Palatino Linotype" panose="02040502050505030304" pitchFamily="18" charset="0"/>
              </a:rPr>
              <a:t>Managing your research projects</a:t>
            </a:r>
          </a:p>
        </p:txBody>
      </p:sp>
    </p:spTree>
    <p:extLst>
      <p:ext uri="{BB962C8B-B14F-4D97-AF65-F5344CB8AC3E}">
        <p14:creationId xmlns:p14="http://schemas.microsoft.com/office/powerpoint/2010/main" val="605311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C28FFC-94D5-C5F2-0F09-03F3528349AE}"/>
              </a:ext>
            </a:extLst>
          </p:cNvPr>
          <p:cNvSpPr>
            <a:spLocks noGrp="1"/>
          </p:cNvSpPr>
          <p:nvPr>
            <p:ph idx="1"/>
          </p:nvPr>
        </p:nvSpPr>
        <p:spPr>
          <a:xfrm>
            <a:off x="61784" y="1186248"/>
            <a:ext cx="12068432" cy="4983892"/>
          </a:xfrm>
        </p:spPr>
        <p:txBody>
          <a:bodyPr>
            <a:normAutofit/>
          </a:bodyPr>
          <a:lstStyle/>
          <a:p>
            <a:pPr marL="0" indent="0">
              <a:buNone/>
            </a:pPr>
            <a:r>
              <a:rPr lang="en-US" sz="2600" u="sng" dirty="0">
                <a:latin typeface="Palatino Linotype" panose="02040502050505030304" pitchFamily="18" charset="0"/>
              </a:rPr>
              <a:t>As a graduate student</a:t>
            </a:r>
          </a:p>
          <a:p>
            <a:pPr lvl="1"/>
            <a:r>
              <a:rPr lang="en-US" sz="2200" dirty="0">
                <a:latin typeface="Palatino Linotype" panose="02040502050505030304" pitchFamily="18" charset="0"/>
              </a:rPr>
              <a:t>Goal: Top-notch JMP.  </a:t>
            </a:r>
          </a:p>
          <a:p>
            <a:pPr lvl="2"/>
            <a:r>
              <a:rPr lang="en-US" dirty="0">
                <a:latin typeface="Palatino Linotype" panose="02040502050505030304" pitchFamily="18" charset="0"/>
              </a:rPr>
              <a:t>Your efforts can be more concentrated</a:t>
            </a:r>
          </a:p>
          <a:p>
            <a:pPr lvl="2"/>
            <a:r>
              <a:rPr lang="en-US" dirty="0">
                <a:latin typeface="Palatino Linotype" panose="02040502050505030304" pitchFamily="18" charset="0"/>
              </a:rPr>
              <a:t>Not so much as a junior professor trying to get tenure.</a:t>
            </a:r>
          </a:p>
          <a:p>
            <a:pPr lvl="1"/>
            <a:r>
              <a:rPr lang="en-US" sz="2200" dirty="0">
                <a:latin typeface="Palatino Linotype" panose="02040502050505030304" pitchFamily="18" charset="0"/>
              </a:rPr>
              <a:t>That said, do not underestimate the value of a non-JMP publication.</a:t>
            </a:r>
          </a:p>
          <a:p>
            <a:pPr lvl="2"/>
            <a:r>
              <a:rPr lang="en-US" dirty="0">
                <a:latin typeface="Palatino Linotype" panose="02040502050505030304" pitchFamily="18" charset="0"/>
              </a:rPr>
              <a:t>Can be important when you aren’t from Harvard, Yale, Chicago, etc.</a:t>
            </a:r>
          </a:p>
          <a:p>
            <a:pPr lvl="2"/>
            <a:r>
              <a:rPr lang="en-US" dirty="0">
                <a:latin typeface="Palatino Linotype" panose="02040502050505030304" pitchFamily="18" charset="0"/>
              </a:rPr>
              <a:t>I went to a top 50-ish school and it was clear that having a good publication and RR was vital to obtaining interviews</a:t>
            </a:r>
          </a:p>
          <a:p>
            <a:pPr lvl="2"/>
            <a:r>
              <a:rPr lang="en-US" dirty="0">
                <a:latin typeface="Palatino Linotype" panose="02040502050505030304" pitchFamily="18" charset="0"/>
              </a:rPr>
              <a:t>When hiring at Montana State U., we screen heavily on this</a:t>
            </a:r>
          </a:p>
          <a:p>
            <a:pPr lvl="1"/>
            <a:r>
              <a:rPr lang="en-US" sz="2200" dirty="0">
                <a:latin typeface="Palatino Linotype" panose="02040502050505030304" pitchFamily="18" charset="0"/>
              </a:rPr>
              <a:t>You do not have to work on a dozen papers as a graduate student.</a:t>
            </a:r>
          </a:p>
          <a:p>
            <a:pPr lvl="2"/>
            <a:r>
              <a:rPr lang="en-US" dirty="0">
                <a:latin typeface="Palatino Linotype" panose="02040502050505030304" pitchFamily="18" charset="0"/>
              </a:rPr>
              <a:t>Takes time away from JMP</a:t>
            </a:r>
          </a:p>
          <a:p>
            <a:pPr lvl="2"/>
            <a:r>
              <a:rPr lang="en-US" dirty="0">
                <a:latin typeface="Palatino Linotype" panose="02040502050505030304" pitchFamily="18" charset="0"/>
              </a:rPr>
              <a:t>Sends a quantity (as opposed to quality) signal, which is not always a good thing</a:t>
            </a:r>
          </a:p>
          <a:p>
            <a:pPr marL="457200" lvl="1" indent="0">
              <a:buNone/>
            </a:pPr>
            <a:endParaRPr lang="en-US" sz="1800" dirty="0">
              <a:latin typeface="Palatino Linotype" panose="02040502050505030304" pitchFamily="18" charset="0"/>
            </a:endParaRPr>
          </a:p>
        </p:txBody>
      </p:sp>
      <p:sp>
        <p:nvSpPr>
          <p:cNvPr id="4" name="Title 1">
            <a:extLst>
              <a:ext uri="{FF2B5EF4-FFF2-40B4-BE49-F238E27FC236}">
                <a16:creationId xmlns:a16="http://schemas.microsoft.com/office/drawing/2014/main" id="{8C8320B2-C285-1A76-1553-8CB7F6186BEB}"/>
              </a:ext>
            </a:extLst>
          </p:cNvPr>
          <p:cNvSpPr>
            <a:spLocks noGrp="1"/>
          </p:cNvSpPr>
          <p:nvPr>
            <p:ph type="title"/>
          </p:nvPr>
        </p:nvSpPr>
        <p:spPr>
          <a:xfrm>
            <a:off x="129744" y="320310"/>
            <a:ext cx="10711249" cy="735099"/>
          </a:xfrm>
        </p:spPr>
        <p:txBody>
          <a:bodyPr>
            <a:normAutofit/>
          </a:bodyPr>
          <a:lstStyle/>
          <a:p>
            <a:r>
              <a:rPr lang="en-US" sz="3600" dirty="0">
                <a:latin typeface="Palatino Linotype" panose="02040502050505030304" pitchFamily="18" charset="0"/>
              </a:rPr>
              <a:t>Managing your research projects: Allocating effort</a:t>
            </a:r>
            <a:endParaRPr lang="en-US" sz="3600" dirty="0"/>
          </a:p>
        </p:txBody>
      </p:sp>
    </p:spTree>
    <p:extLst>
      <p:ext uri="{BB962C8B-B14F-4D97-AF65-F5344CB8AC3E}">
        <p14:creationId xmlns:p14="http://schemas.microsoft.com/office/powerpoint/2010/main" val="40187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2D28-7AB1-E164-9ACB-8A2A4335EA38}"/>
              </a:ext>
            </a:extLst>
          </p:cNvPr>
          <p:cNvSpPr>
            <a:spLocks noGrp="1"/>
          </p:cNvSpPr>
          <p:nvPr>
            <p:ph type="title"/>
          </p:nvPr>
        </p:nvSpPr>
        <p:spPr>
          <a:xfrm>
            <a:off x="90615" y="346438"/>
            <a:ext cx="10515600" cy="669197"/>
          </a:xfrm>
        </p:spPr>
        <p:txBody>
          <a:bodyPr>
            <a:normAutofit/>
          </a:bodyPr>
          <a:lstStyle/>
          <a:p>
            <a:r>
              <a:rPr lang="en-US" sz="3600" dirty="0">
                <a:latin typeface="Palatino Linotype" panose="02040502050505030304" pitchFamily="18" charset="0"/>
              </a:rPr>
              <a:t>Managing your research projects: Allocating effort</a:t>
            </a:r>
            <a:endParaRPr lang="en-US" sz="3600" dirty="0"/>
          </a:p>
        </p:txBody>
      </p:sp>
      <p:sp>
        <p:nvSpPr>
          <p:cNvPr id="4" name="Content Placeholder 2">
            <a:extLst>
              <a:ext uri="{FF2B5EF4-FFF2-40B4-BE49-F238E27FC236}">
                <a16:creationId xmlns:a16="http://schemas.microsoft.com/office/drawing/2014/main" id="{B27BD34E-3B4D-0441-9CF6-26960DABDDA3}"/>
              </a:ext>
            </a:extLst>
          </p:cNvPr>
          <p:cNvSpPr>
            <a:spLocks noGrp="1"/>
          </p:cNvSpPr>
          <p:nvPr>
            <p:ph idx="1"/>
          </p:nvPr>
        </p:nvSpPr>
        <p:spPr>
          <a:xfrm>
            <a:off x="1" y="1092456"/>
            <a:ext cx="12192000" cy="5094159"/>
          </a:xfrm>
        </p:spPr>
        <p:txBody>
          <a:bodyPr>
            <a:normAutofit/>
          </a:bodyPr>
          <a:lstStyle/>
          <a:p>
            <a:pPr marL="0" indent="0">
              <a:buNone/>
            </a:pPr>
            <a:r>
              <a:rPr lang="en-US" sz="2600" u="sng" dirty="0">
                <a:latin typeface="Palatino Linotype" panose="02040502050505030304" pitchFamily="18" charset="0"/>
              </a:rPr>
              <a:t>As a junior prof.</a:t>
            </a:r>
          </a:p>
          <a:p>
            <a:pPr lvl="1"/>
            <a:r>
              <a:rPr lang="en-US" sz="2200" dirty="0">
                <a:latin typeface="Palatino Linotype" panose="02040502050505030304" pitchFamily="18" charset="0"/>
              </a:rPr>
              <a:t>Goal: A portfolio of projects at different phases</a:t>
            </a:r>
          </a:p>
          <a:p>
            <a:pPr lvl="2"/>
            <a:r>
              <a:rPr lang="en-US" dirty="0">
                <a:latin typeface="Palatino Linotype" panose="02040502050505030304" pitchFamily="18" charset="0"/>
              </a:rPr>
              <a:t>(</a:t>
            </a:r>
            <a:r>
              <a:rPr lang="en-US" dirty="0" err="1">
                <a:latin typeface="Palatino Linotype" panose="02040502050505030304" pitchFamily="18" charset="0"/>
              </a:rPr>
              <a:t>i</a:t>
            </a:r>
            <a:r>
              <a:rPr lang="en-US" dirty="0">
                <a:latin typeface="Palatino Linotype" panose="02040502050505030304" pitchFamily="18" charset="0"/>
              </a:rPr>
              <a:t>) Always have one to two projects that are your main focus</a:t>
            </a:r>
          </a:p>
          <a:p>
            <a:pPr lvl="3"/>
            <a:r>
              <a:rPr lang="en-US" dirty="0">
                <a:latin typeface="Palatino Linotype" panose="02040502050505030304" pitchFamily="18" charset="0"/>
              </a:rPr>
              <a:t>Some can manage more.</a:t>
            </a:r>
          </a:p>
          <a:p>
            <a:pPr lvl="2"/>
            <a:r>
              <a:rPr lang="en-US" dirty="0">
                <a:latin typeface="Palatino Linotype" panose="02040502050505030304" pitchFamily="18" charset="0"/>
              </a:rPr>
              <a:t>(ii) As you progress, always try to have at least a few papers under review or at the RR stage</a:t>
            </a:r>
          </a:p>
          <a:p>
            <a:pPr lvl="2"/>
            <a:r>
              <a:rPr lang="en-US" dirty="0">
                <a:latin typeface="Palatino Linotype" panose="02040502050505030304" pitchFamily="18" charset="0"/>
              </a:rPr>
              <a:t>(iii) When your papers in (</a:t>
            </a:r>
            <a:r>
              <a:rPr lang="en-US" dirty="0" err="1">
                <a:latin typeface="Palatino Linotype" panose="02040502050505030304" pitchFamily="18" charset="0"/>
              </a:rPr>
              <a:t>i</a:t>
            </a:r>
            <a:r>
              <a:rPr lang="en-US" dirty="0">
                <a:latin typeface="Palatino Linotype" panose="02040502050505030304" pitchFamily="18" charset="0"/>
              </a:rPr>
              <a:t>) are submitted, make sure data collection efforts are already under way on other projects.</a:t>
            </a:r>
          </a:p>
          <a:p>
            <a:pPr lvl="3"/>
            <a:r>
              <a:rPr lang="en-US" dirty="0">
                <a:latin typeface="Palatino Linotype" panose="02040502050505030304" pitchFamily="18" charset="0"/>
              </a:rPr>
              <a:t>If you have RA resources, spend them here.  </a:t>
            </a:r>
          </a:p>
          <a:p>
            <a:pPr marL="1371600" lvl="3" indent="0">
              <a:buNone/>
            </a:pPr>
            <a:endParaRPr lang="en-US" dirty="0">
              <a:latin typeface="Palatino Linotype" panose="02040502050505030304" pitchFamily="18" charset="0"/>
            </a:endParaRPr>
          </a:p>
          <a:p>
            <a:pPr lvl="1"/>
            <a:r>
              <a:rPr lang="en-US" sz="2200" dirty="0">
                <a:latin typeface="Palatino Linotype" panose="02040502050505030304" pitchFamily="18" charset="0"/>
              </a:rPr>
              <a:t>If going into (or are already in) academia, figure out tenure requirements asap! </a:t>
            </a:r>
          </a:p>
          <a:p>
            <a:pPr lvl="2"/>
            <a:r>
              <a:rPr lang="en-US" sz="1800" dirty="0">
                <a:latin typeface="Palatino Linotype" panose="02040502050505030304" pitchFamily="18" charset="0"/>
              </a:rPr>
              <a:t>Advice given to me: “You’re in an ag. economics department, so do not forget that quantity matters.”</a:t>
            </a:r>
          </a:p>
        </p:txBody>
      </p:sp>
    </p:spTree>
    <p:extLst>
      <p:ext uri="{BB962C8B-B14F-4D97-AF65-F5344CB8AC3E}">
        <p14:creationId xmlns:p14="http://schemas.microsoft.com/office/powerpoint/2010/main" val="264103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7EF857-9D00-1E47-ECB6-D6F1A2CC1E99}"/>
              </a:ext>
            </a:extLst>
          </p:cNvPr>
          <p:cNvSpPr>
            <a:spLocks noGrp="1"/>
          </p:cNvSpPr>
          <p:nvPr>
            <p:ph idx="1"/>
          </p:nvPr>
        </p:nvSpPr>
        <p:spPr>
          <a:xfrm>
            <a:off x="0" y="1149530"/>
            <a:ext cx="12192000" cy="5097903"/>
          </a:xfrm>
        </p:spPr>
        <p:txBody>
          <a:bodyPr>
            <a:normAutofit/>
          </a:bodyPr>
          <a:lstStyle/>
          <a:p>
            <a:pPr marL="0" indent="0">
              <a:buNone/>
            </a:pPr>
            <a:r>
              <a:rPr lang="en-US" sz="2600" b="1" dirty="0">
                <a:latin typeface="Palatino Linotype" panose="02040502050505030304" pitchFamily="18" charset="0"/>
              </a:rPr>
              <a:t>Targeting journals</a:t>
            </a:r>
          </a:p>
          <a:p>
            <a:pPr lvl="1"/>
            <a:r>
              <a:rPr lang="en-US" dirty="0">
                <a:latin typeface="Palatino Linotype" panose="02040502050505030304" pitchFamily="18" charset="0"/>
              </a:rPr>
              <a:t>FAQ: “Where should I send paper X?”</a:t>
            </a:r>
          </a:p>
          <a:p>
            <a:pPr lvl="1"/>
            <a:r>
              <a:rPr lang="en-US" dirty="0">
                <a:latin typeface="Palatino Linotype" panose="02040502050505030304" pitchFamily="18" charset="0"/>
              </a:rPr>
              <a:t>If you become a master of the literature (as discussed earlier), the set of relevant journals will be clear </a:t>
            </a:r>
          </a:p>
          <a:p>
            <a:pPr lvl="1"/>
            <a:r>
              <a:rPr lang="en-US" dirty="0">
                <a:latin typeface="Palatino Linotype" panose="02040502050505030304" pitchFamily="18" charset="0"/>
              </a:rPr>
              <a:t>We will discuss this in detail later…</a:t>
            </a:r>
          </a:p>
          <a:p>
            <a:pPr marL="457200" lvl="1" indent="0">
              <a:buNone/>
            </a:pPr>
            <a:endParaRPr lang="en-US" dirty="0">
              <a:latin typeface="Palatino Linotype" panose="02040502050505030304" pitchFamily="18" charset="0"/>
            </a:endParaRPr>
          </a:p>
          <a:p>
            <a:pPr marL="0" indent="0">
              <a:buNone/>
            </a:pPr>
            <a:r>
              <a:rPr lang="en-US" sz="2600" b="1" dirty="0">
                <a:latin typeface="Palatino Linotype" panose="02040502050505030304" pitchFamily="18" charset="0"/>
              </a:rPr>
              <a:t>When to target a non-economics journal</a:t>
            </a:r>
          </a:p>
          <a:p>
            <a:r>
              <a:rPr lang="en-US" sz="2400" dirty="0">
                <a:latin typeface="Palatino Linotype" panose="02040502050505030304" pitchFamily="18" charset="0"/>
              </a:rPr>
              <a:t>You need to pivot because…</a:t>
            </a:r>
          </a:p>
          <a:p>
            <a:pPr lvl="1"/>
            <a:r>
              <a:rPr lang="en-US" sz="2000" dirty="0">
                <a:latin typeface="Palatino Linotype" panose="02040502050505030304" pitchFamily="18" charset="0"/>
              </a:rPr>
              <a:t>Estimates are correlations only</a:t>
            </a:r>
            <a:endParaRPr lang="en-US" sz="1600" dirty="0">
              <a:latin typeface="Palatino Linotype" panose="02040502050505030304" pitchFamily="18" charset="0"/>
            </a:endParaRPr>
          </a:p>
          <a:p>
            <a:pPr lvl="1"/>
            <a:r>
              <a:rPr lang="en-US" sz="2000" dirty="0">
                <a:latin typeface="Palatino Linotype" panose="02040502050505030304" pitchFamily="18" charset="0"/>
              </a:rPr>
              <a:t>You cannot identify mechanisms</a:t>
            </a:r>
          </a:p>
          <a:p>
            <a:pPr lvl="1"/>
            <a:r>
              <a:rPr lang="en-US" sz="2000" dirty="0">
                <a:latin typeface="Palatino Linotype" panose="02040502050505030304" pitchFamily="18" charset="0"/>
              </a:rPr>
              <a:t>You just don’t have enough “meat” for a full-length paper</a:t>
            </a:r>
          </a:p>
          <a:p>
            <a:pPr lvl="1"/>
            <a:r>
              <a:rPr lang="en-US" sz="2000" dirty="0">
                <a:latin typeface="Palatino Linotype" panose="02040502050505030304" pitchFamily="18" charset="0"/>
              </a:rPr>
              <a:t>You need a mental health break!</a:t>
            </a:r>
          </a:p>
          <a:p>
            <a:endParaRPr lang="en-US" dirty="0">
              <a:latin typeface="Palatino Linotype" panose="02040502050505030304" pitchFamily="18" charset="0"/>
            </a:endParaRPr>
          </a:p>
        </p:txBody>
      </p:sp>
      <p:sp>
        <p:nvSpPr>
          <p:cNvPr id="4" name="Title 1">
            <a:extLst>
              <a:ext uri="{FF2B5EF4-FFF2-40B4-BE49-F238E27FC236}">
                <a16:creationId xmlns:a16="http://schemas.microsoft.com/office/drawing/2014/main" id="{B46DE376-73DD-D781-F099-C1FADBDFC9E9}"/>
              </a:ext>
            </a:extLst>
          </p:cNvPr>
          <p:cNvSpPr>
            <a:spLocks noGrp="1"/>
          </p:cNvSpPr>
          <p:nvPr>
            <p:ph type="title"/>
          </p:nvPr>
        </p:nvSpPr>
        <p:spPr>
          <a:xfrm>
            <a:off x="193767" y="271850"/>
            <a:ext cx="10515600" cy="677434"/>
          </a:xfrm>
        </p:spPr>
        <p:txBody>
          <a:bodyPr>
            <a:normAutofit/>
          </a:bodyPr>
          <a:lstStyle/>
          <a:p>
            <a:r>
              <a:rPr lang="en-US" sz="3600" dirty="0">
                <a:latin typeface="Palatino Linotype" panose="02040502050505030304" pitchFamily="18" charset="0"/>
              </a:rPr>
              <a:t>Managing your research projects</a:t>
            </a:r>
            <a:endParaRPr lang="en-US" sz="3600" dirty="0"/>
          </a:p>
        </p:txBody>
      </p:sp>
    </p:spTree>
    <p:extLst>
      <p:ext uri="{BB962C8B-B14F-4D97-AF65-F5344CB8AC3E}">
        <p14:creationId xmlns:p14="http://schemas.microsoft.com/office/powerpoint/2010/main" val="415389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A8264-8E3E-022A-51A5-427E60D6C517}"/>
              </a:ext>
            </a:extLst>
          </p:cNvPr>
          <p:cNvSpPr>
            <a:spLocks noGrp="1"/>
          </p:cNvSpPr>
          <p:nvPr>
            <p:ph idx="1"/>
          </p:nvPr>
        </p:nvSpPr>
        <p:spPr>
          <a:xfrm>
            <a:off x="28832" y="1489165"/>
            <a:ext cx="12134335" cy="4893421"/>
          </a:xfrm>
        </p:spPr>
        <p:txBody>
          <a:bodyPr>
            <a:normAutofit/>
          </a:bodyPr>
          <a:lstStyle/>
          <a:p>
            <a:r>
              <a:rPr lang="en-US" sz="2600" dirty="0">
                <a:latin typeface="Palatino Linotype" panose="02040502050505030304" pitchFamily="18" charset="0"/>
              </a:rPr>
              <a:t>Every year, I take a break from the econ-paper grind and write a paper for a non-econ journal.</a:t>
            </a:r>
          </a:p>
          <a:p>
            <a:pPr lvl="1"/>
            <a:r>
              <a:rPr lang="en-US" sz="2200" dirty="0">
                <a:latin typeface="Palatino Linotype" panose="02040502050505030304" pitchFamily="18" charset="0"/>
              </a:rPr>
              <a:t>It’s fun!</a:t>
            </a:r>
          </a:p>
          <a:p>
            <a:pPr lvl="1"/>
            <a:r>
              <a:rPr lang="en-US" sz="2200" dirty="0">
                <a:latin typeface="Palatino Linotype" panose="02040502050505030304" pitchFamily="18" charset="0"/>
              </a:rPr>
              <a:t>Important to learn how to write for a different audience</a:t>
            </a:r>
          </a:p>
          <a:p>
            <a:pPr lvl="2"/>
            <a:r>
              <a:rPr lang="en-US" sz="1800" dirty="0">
                <a:latin typeface="Palatino Linotype" panose="02040502050505030304" pitchFamily="18" charset="0"/>
              </a:rPr>
              <a:t>Transferable human capital</a:t>
            </a:r>
          </a:p>
          <a:p>
            <a:r>
              <a:rPr lang="en-US" sz="2600" dirty="0">
                <a:latin typeface="Palatino Linotype" panose="02040502050505030304" pitchFamily="18" charset="0"/>
              </a:rPr>
              <a:t>Papers for non-econ journals take </a:t>
            </a:r>
            <a:r>
              <a:rPr lang="en-US" sz="2600" i="1" dirty="0">
                <a:latin typeface="Palatino Linotype" panose="02040502050505030304" pitchFamily="18" charset="0"/>
              </a:rPr>
              <a:t>much</a:t>
            </a:r>
            <a:r>
              <a:rPr lang="en-US" sz="2600" dirty="0">
                <a:latin typeface="Palatino Linotype" panose="02040502050505030304" pitchFamily="18" charset="0"/>
              </a:rPr>
              <a:t> less time</a:t>
            </a:r>
          </a:p>
          <a:p>
            <a:pPr lvl="1"/>
            <a:r>
              <a:rPr lang="en-US" sz="2200" dirty="0">
                <a:latin typeface="Palatino Linotype" panose="02040502050505030304" pitchFamily="18" charset="0"/>
              </a:rPr>
              <a:t>Medical journals have word (≈3,000-4,000) and figure (≈4-5) limits</a:t>
            </a:r>
          </a:p>
          <a:p>
            <a:pPr lvl="2"/>
            <a:r>
              <a:rPr lang="en-US" sz="1800" dirty="0">
                <a:latin typeface="Palatino Linotype" panose="02040502050505030304" pitchFamily="18" charset="0"/>
              </a:rPr>
              <a:t>“Research letter” options</a:t>
            </a:r>
          </a:p>
          <a:p>
            <a:pPr lvl="3"/>
            <a:r>
              <a:rPr lang="en-US" sz="1600" dirty="0">
                <a:latin typeface="Palatino Linotype" panose="02040502050505030304" pitchFamily="18" charset="0"/>
              </a:rPr>
              <a:t>Word (&lt; 1,000) and figure (≈1-2) limits</a:t>
            </a:r>
          </a:p>
          <a:p>
            <a:pPr lvl="3"/>
            <a:r>
              <a:rPr lang="en-US" sz="1600" dirty="0">
                <a:latin typeface="Palatino Linotype" panose="02040502050505030304" pitchFamily="18" charset="0"/>
              </a:rPr>
              <a:t>Only a few good econ journals have “letter” or “note” options.</a:t>
            </a:r>
          </a:p>
          <a:p>
            <a:pPr lvl="2"/>
            <a:r>
              <a:rPr lang="en-US" sz="1800" dirty="0">
                <a:latin typeface="Palatino Linotype" panose="02040502050505030304" pitchFamily="18" charset="0"/>
              </a:rPr>
              <a:t>Faster turnaround (&lt; 1 month)</a:t>
            </a:r>
          </a:p>
          <a:p>
            <a:pPr lvl="1"/>
            <a:r>
              <a:rPr lang="en-US" sz="2200" dirty="0">
                <a:latin typeface="Palatino Linotype" panose="02040502050505030304" pitchFamily="18" charset="0"/>
              </a:rPr>
              <a:t>But non-econ pubs do not “count” as much on the econ job market or for tenure in an econ department</a:t>
            </a:r>
          </a:p>
          <a:p>
            <a:pPr lvl="2"/>
            <a:r>
              <a:rPr lang="en-US" sz="1800" dirty="0">
                <a:latin typeface="Palatino Linotype" panose="02040502050505030304" pitchFamily="18" charset="0"/>
              </a:rPr>
              <a:t>Carefully weigh tradeoffs of pursuing these pubs vs. simply quitting (or not starting) a project altogether.</a:t>
            </a:r>
          </a:p>
        </p:txBody>
      </p:sp>
      <p:sp>
        <p:nvSpPr>
          <p:cNvPr id="4" name="Title 1">
            <a:extLst>
              <a:ext uri="{FF2B5EF4-FFF2-40B4-BE49-F238E27FC236}">
                <a16:creationId xmlns:a16="http://schemas.microsoft.com/office/drawing/2014/main" id="{C31DEB85-2C7F-7208-D32D-9F0FC224B2D9}"/>
              </a:ext>
            </a:extLst>
          </p:cNvPr>
          <p:cNvSpPr>
            <a:spLocks noGrp="1"/>
          </p:cNvSpPr>
          <p:nvPr>
            <p:ph type="title"/>
          </p:nvPr>
        </p:nvSpPr>
        <p:spPr>
          <a:xfrm>
            <a:off x="163167" y="475414"/>
            <a:ext cx="10515600" cy="743337"/>
          </a:xfrm>
        </p:spPr>
        <p:txBody>
          <a:bodyPr>
            <a:normAutofit/>
          </a:bodyPr>
          <a:lstStyle/>
          <a:p>
            <a:r>
              <a:rPr lang="en-US" sz="3600" dirty="0">
                <a:latin typeface="Palatino Linotype" panose="02040502050505030304" pitchFamily="18" charset="0"/>
              </a:rPr>
              <a:t>Managing your research projects</a:t>
            </a:r>
            <a:endParaRPr lang="en-US" sz="3600" dirty="0"/>
          </a:p>
        </p:txBody>
      </p:sp>
    </p:spTree>
    <p:extLst>
      <p:ext uri="{BB962C8B-B14F-4D97-AF65-F5344CB8AC3E}">
        <p14:creationId xmlns:p14="http://schemas.microsoft.com/office/powerpoint/2010/main" val="324885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0AB0899F-92CC-4F03-AE99-375B13846225}" vid="{E3288AC6-8055-4991-B73C-87F3D2DE19A8}"/>
    </a:ext>
  </a:extLst>
</a:theme>
</file>

<file path=docProps/app.xml><?xml version="1.0" encoding="utf-8"?>
<Properties xmlns="http://schemas.openxmlformats.org/officeDocument/2006/extended-properties" xmlns:vt="http://schemas.openxmlformats.org/officeDocument/2006/docPropsVTypes">
  <Template>PP Template</Template>
  <TotalTime>17972</TotalTime>
  <Words>2155</Words>
  <Application>Microsoft Office PowerPoint</Application>
  <PresentationFormat>Widescreen</PresentationFormat>
  <Paragraphs>248</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Garamond</vt:lpstr>
      <vt:lpstr>Palatino Linotype</vt:lpstr>
      <vt:lpstr>Office Theme</vt:lpstr>
      <vt:lpstr>PowerPoint Presentation</vt:lpstr>
      <vt:lpstr>PowerPoint Presentation</vt:lpstr>
      <vt:lpstr>What Dan Rees and I will be covering…</vt:lpstr>
      <vt:lpstr>Starting Your Research Project</vt:lpstr>
      <vt:lpstr>Hurdle #1. Is it interesting/important/policy relevant?</vt:lpstr>
      <vt:lpstr>PowerPoint Presentation</vt:lpstr>
      <vt:lpstr>Hurdle #2. Are you filling a clearly defined gap in the literature?</vt:lpstr>
      <vt:lpstr>PowerPoint Presentation</vt:lpstr>
      <vt:lpstr>Hurdle #3. Are the data available? Does a well-defined natural experiment exist? </vt:lpstr>
      <vt:lpstr>Hurdle #3 (continued)</vt:lpstr>
      <vt:lpstr>PowerPoint Presentation</vt:lpstr>
      <vt:lpstr>PowerPoint Presentation</vt:lpstr>
      <vt:lpstr>PowerPoint Presentation</vt:lpstr>
      <vt:lpstr>PowerPoint Presentation</vt:lpstr>
      <vt:lpstr>PowerPoint Presentation</vt:lpstr>
      <vt:lpstr>When to cut the cord on a project</vt:lpstr>
      <vt:lpstr>The Null Result</vt:lpstr>
      <vt:lpstr>The Null Result</vt:lpstr>
      <vt:lpstr>Identifying Mechanisms</vt:lpstr>
      <vt:lpstr>Identifying Mechanisms</vt:lpstr>
      <vt:lpstr>Identifying Mechanisms</vt:lpstr>
      <vt:lpstr>PowerPoint Presentation</vt:lpstr>
      <vt:lpstr>Managing your research projects: Allocating effort</vt:lpstr>
      <vt:lpstr>Managing your research projects: Allocating effort</vt:lpstr>
      <vt:lpstr>Managing your research projects</vt:lpstr>
      <vt:lpstr>Managing your research projects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Anderson, Mark</dc:creator>
  <cp:lastModifiedBy>Anderson, Mark</cp:lastModifiedBy>
  <cp:revision>127</cp:revision>
  <cp:lastPrinted>2022-08-12T14:29:45Z</cp:lastPrinted>
  <dcterms:created xsi:type="dcterms:W3CDTF">2022-07-20T20:22:44Z</dcterms:created>
  <dcterms:modified xsi:type="dcterms:W3CDTF">2026-08-05T12:22:59Z</dcterms:modified>
</cp:coreProperties>
</file>