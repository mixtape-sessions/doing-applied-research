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7" r:id="rId3"/>
    <p:sldId id="260" r:id="rId4"/>
    <p:sldId id="293" r:id="rId5"/>
    <p:sldId id="294" r:id="rId6"/>
    <p:sldId id="296" r:id="rId7"/>
    <p:sldId id="295" r:id="rId8"/>
    <p:sldId id="298" r:id="rId9"/>
    <p:sldId id="299" r:id="rId10"/>
    <p:sldId id="300" r:id="rId11"/>
    <p:sldId id="301" r:id="rId12"/>
    <p:sldId id="302" r:id="rId13"/>
    <p:sldId id="307" r:id="rId14"/>
    <p:sldId id="303" r:id="rId15"/>
    <p:sldId id="312" r:id="rId16"/>
    <p:sldId id="304" r:id="rId17"/>
    <p:sldId id="305" r:id="rId18"/>
    <p:sldId id="306" r:id="rId19"/>
    <p:sldId id="308" r:id="rId20"/>
    <p:sldId id="309" r:id="rId21"/>
    <p:sldId id="314" r:id="rId22"/>
    <p:sldId id="315" r:id="rId23"/>
    <p:sldId id="316" r:id="rId24"/>
    <p:sldId id="313" r:id="rId25"/>
    <p:sldId id="317" r:id="rId26"/>
    <p:sldId id="319" r:id="rId27"/>
    <p:sldId id="320" r:id="rId28"/>
    <p:sldId id="321" r:id="rId29"/>
    <p:sldId id="318" r:id="rId30"/>
    <p:sldId id="310" r:id="rId3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9" autoAdjust="0"/>
    <p:restoredTop sz="94660"/>
  </p:normalViewPr>
  <p:slideViewPr>
    <p:cSldViewPr snapToGrid="0">
      <p:cViewPr varScale="1">
        <p:scale>
          <a:sx n="66" d="100"/>
          <a:sy n="66" d="100"/>
        </p:scale>
        <p:origin x="5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73375809854143"/>
          <c:y val="1.9630658730761412E-2"/>
          <c:w val="0.83599649761380401"/>
          <c:h val="0.823021973348735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-6</c:v>
                </c:pt>
                <c:pt idx="1">
                  <c:v>-5</c:v>
                </c:pt>
                <c:pt idx="2">
                  <c:v>-4</c:v>
                </c:pt>
                <c:pt idx="3">
                  <c:v>-3</c:v>
                </c:pt>
                <c:pt idx="4">
                  <c:v>-2</c:v>
                </c:pt>
                <c:pt idx="5">
                  <c:v>-1</c:v>
                </c:pt>
                <c:pt idx="6">
                  <c:v>0</c:v>
                </c:pt>
                <c:pt idx="7">
                  <c:v>1</c:v>
                </c:pt>
                <c:pt idx="8">
                  <c:v>2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  <c:pt idx="12">
                  <c:v>6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</c:v>
                </c:pt>
                <c:pt idx="1">
                  <c:v>28</c:v>
                </c:pt>
                <c:pt idx="2">
                  <c:v>55</c:v>
                </c:pt>
                <c:pt idx="3">
                  <c:v>92</c:v>
                </c:pt>
                <c:pt idx="4">
                  <c:v>140</c:v>
                </c:pt>
                <c:pt idx="5">
                  <c:v>168</c:v>
                </c:pt>
                <c:pt idx="6">
                  <c:v>170</c:v>
                </c:pt>
                <c:pt idx="7">
                  <c:v>160</c:v>
                </c:pt>
                <c:pt idx="8">
                  <c:v>138</c:v>
                </c:pt>
                <c:pt idx="9">
                  <c:v>95</c:v>
                </c:pt>
                <c:pt idx="10">
                  <c:v>60</c:v>
                </c:pt>
                <c:pt idx="11">
                  <c:v>30</c:v>
                </c:pt>
                <c:pt idx="1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9-4BBC-9404-763B3050A4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A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B6B7A"/>
                    </a:solidFill>
                    <a:latin typeface="Arial"/>
                  </a:rPr>
                  <a:t>Event time (years)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A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B6B7A"/>
                    </a:solidFill>
                    <a:latin typeface="Arial"/>
                  </a:rPr>
                  <a:t>Number of units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307A6-F614-B400-67A0-1DBCEC700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E4CBA-4C98-2702-1E39-3CF6F047E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033B3-A463-EE2E-3D45-A7D676DCC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F84F9-5915-4105-8249-F88D791789A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40477-7931-800A-06AC-681900B96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64D78-F3B3-A8D8-7D5E-483DA6DF8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5E1A1-95AC-4E24-932B-BBBFAF3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07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375C-E4A7-30B2-87C9-0DAC83521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45B76-7353-E3FA-1472-76F6B2DDD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1DDB0-5D39-9722-6BB9-43AC27430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F84F9-5915-4105-8249-F88D791789A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F81782-A2A0-2638-D516-D8773A364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B3A11-EF9C-F02E-0711-F7A2CEF6A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5E1A1-95AC-4E24-932B-BBBFAF3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3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991A8-5DEB-04A3-8F1C-B5B700ED6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7CE26-B62A-60A8-98C1-4BC6CD0C6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C6904-0199-EEF7-40CD-10F11756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F84F9-5915-4105-8249-F88D791789A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63DD8-E908-4E35-DC26-02FEBC99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80AEA-32C2-9013-5A04-DAF889E5B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5E1A1-95AC-4E24-932B-BBBFAF3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72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99C8C-9545-D2DC-771D-759EB082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B7078-3272-01A4-CDC3-AFEE34448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195E0-48AB-A8FE-49D2-7296DB4F0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D95EF-4699-CE82-79B5-B0A1235A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F84F9-5915-4105-8249-F88D791789A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8503E-8BEC-EBBF-EB84-C171E681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27AD9-277A-4778-1717-AB8EE346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5E1A1-95AC-4E24-932B-BBBFAF3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60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9BEF-11B4-9A40-625E-F3242E2A5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55E6E-D7B7-E80A-801A-783718A66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55D03-E6C7-9CFA-F780-B78645201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9B09FF-B5F5-EFE9-DE3F-EEF17F588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54F056-F092-B9C9-265C-660FAB2E7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54E8C-299B-8874-C22C-E699C2E4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F84F9-5915-4105-8249-F88D791789A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29D0C-103D-A431-3234-C56DC94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A674E6-64A0-C435-CE70-C7E60162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5E1A1-95AC-4E24-932B-BBBFAF3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3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F88F-4E43-8C14-6215-9D6E445E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7BB82A-F41F-7C88-4018-D0BC81F9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F84F9-5915-4105-8249-F88D791789A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4B214-13B0-A504-4AA4-9F12F11B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8B84D-2537-92C0-9C7F-40708914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5E1A1-95AC-4E24-932B-BBBFAF3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53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7E682-754B-B584-4433-F080DF917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F84F9-5915-4105-8249-F88D791789A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EF01A6-0EF8-9E19-7C38-2A302E79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FDC31-2E8F-A1FB-94AB-3D8BAD999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5E1A1-95AC-4E24-932B-BBBFAF3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5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0788-B5F2-3C98-C629-C3C57434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9FB3D-2107-F8AD-D1FA-A84DEC05B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6AA8F-75BD-777B-A585-7AF5F2502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BE2B4-EF12-1E5F-2378-306D0A707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F84F9-5915-4105-8249-F88D791789A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73227-3E54-1BE9-6942-385C62FDA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2DE95-48EF-C32F-E9E8-3D5C781F2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5E1A1-95AC-4E24-932B-BBBFAF3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3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CE3B-97A9-FE79-F51D-C747C03A1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C090C5-8013-5710-50D6-6304BCFA6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C8F4E-058E-9C4D-967A-CB3BC8787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86863-8CD0-C391-C41C-2522745AE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F84F9-5915-4105-8249-F88D791789A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FABA-303A-4EBD-8BCC-D5FC76AD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9CF34-FAAF-53CC-E3A1-AE57D1E6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5E1A1-95AC-4E24-932B-BBBFAF3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6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5E36-F9D6-36AF-B74A-39D70F731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01BEB-3396-D10B-47CA-F249DE546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D9CD4-2F00-60B0-7143-46967F9C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F84F9-5915-4105-8249-F88D791789A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0DC8F-8FBF-6F18-5CB5-8ECC1610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F9F47-2541-44EF-6309-711385E0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5E1A1-95AC-4E24-932B-BBBFAF3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921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415CAD-F80F-AA2E-897E-2290AE58E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320D8-CC01-370B-735B-975C662C7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269DF-0BDB-230E-0C7A-C284C81A6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F84F9-5915-4105-8249-F88D791789A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76895-4C6F-D905-FED6-1EFBE8BCC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2D835-AA45-5384-8564-BD6ACF18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5E1A1-95AC-4E24-932B-BBBFAF3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01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B15BA1-2DFA-9ECA-DC16-D325C36BB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C1473-B0E8-7900-0E39-3E135078D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AF0FD-7A77-54BC-2316-7570E0F2A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F84F9-5915-4105-8249-F88D791789A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C3CF2-A6A7-B249-0AB4-DEA37279B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758BF-FE2B-2C83-832F-DC1719FD5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5E1A1-95AC-4E24-932B-BBBFAF3B3452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Mixtape: The Podcast">
            <a:extLst>
              <a:ext uri="{FF2B5EF4-FFF2-40B4-BE49-F238E27FC236}">
                <a16:creationId xmlns:a16="http://schemas.microsoft.com/office/drawing/2014/main" id="{F6042501-FDDE-B9E0-17B1-720B4CBE4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7986" y="32657"/>
            <a:ext cx="1094014" cy="109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83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ausalinf.substack.com/p/data-visualization-and-the-even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842A0-BDA0-C136-8D44-0B961C4DE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396CEB4-77B3-A155-AF58-C2DC543102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018" t="59131" r="36687" b="24809"/>
          <a:stretch>
            <a:fillRect/>
          </a:stretch>
        </p:blipFill>
        <p:spPr>
          <a:xfrm>
            <a:off x="4551871" y="2556476"/>
            <a:ext cx="3088258" cy="10610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9D686-DAE1-9776-0BC5-B6BD43D6330B}"/>
              </a:ext>
            </a:extLst>
          </p:cNvPr>
          <p:cNvSpPr txBox="1"/>
          <p:nvPr/>
        </p:nvSpPr>
        <p:spPr>
          <a:xfrm>
            <a:off x="2078966" y="763983"/>
            <a:ext cx="775514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 dirty="0">
                <a:latin typeface="Palatino Linotype" panose="02040502050505030304" pitchFamily="18" charset="0"/>
              </a:rPr>
              <a:t>Hidden Curriculum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FE20A8-A095-EC18-67F2-0A88DE97EF53}"/>
              </a:ext>
            </a:extLst>
          </p:cNvPr>
          <p:cNvSpPr txBox="1">
            <a:spLocks/>
          </p:cNvSpPr>
          <p:nvPr/>
        </p:nvSpPr>
        <p:spPr>
          <a:xfrm>
            <a:off x="1750540" y="4250230"/>
            <a:ext cx="8690919" cy="7191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Palatino Linotype" panose="02040502050505030304" pitchFamily="18" charset="0"/>
              </a:rPr>
              <a:t>Presenting your event-study estimates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311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CC9F-C3B2-ABA5-0D5D-7DCDC153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12" y="425793"/>
            <a:ext cx="11220450" cy="8810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Palatino Linotype" panose="02040502050505030304" pitchFamily="18" charset="0"/>
              </a:rPr>
              <a:t>Four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E9D46-8500-B0F5-AA06-4640B90FF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604834"/>
            <a:ext cx="12058650" cy="3255491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endParaRPr lang="en-US" sz="2800" dirty="0">
              <a:latin typeface="Palatino Linotype" panose="02040502050505030304" pitchFamily="18" charset="0"/>
            </a:endParaRPr>
          </a:p>
          <a:p>
            <a:pPr lvl="1"/>
            <a:r>
              <a:rPr lang="en-US" sz="2800" dirty="0">
                <a:latin typeface="Palatino Linotype" panose="02040502050505030304" pitchFamily="18" charset="0"/>
              </a:rPr>
              <a:t>1.) Presenting your equations within the body of your manuscript</a:t>
            </a:r>
          </a:p>
          <a:p>
            <a:pPr lvl="1"/>
            <a:endParaRPr lang="en-US" sz="2800" dirty="0">
              <a:latin typeface="Palatino Linotype" panose="02040502050505030304" pitchFamily="18" charset="0"/>
            </a:endParaRPr>
          </a:p>
          <a:p>
            <a:pPr lvl="1"/>
            <a:r>
              <a:rPr lang="en-US" sz="2800" dirty="0">
                <a:latin typeface="Palatino Linotype" panose="02040502050505030304" pitchFamily="18" charset="0"/>
              </a:rPr>
              <a:t>2.) Making event-study figures</a:t>
            </a:r>
          </a:p>
          <a:p>
            <a:pPr lvl="1"/>
            <a:endParaRPr lang="en-US" sz="2800" dirty="0">
              <a:latin typeface="Palatino Linotype" panose="02040502050505030304" pitchFamily="18" charset="0"/>
            </a:endParaRPr>
          </a:p>
          <a:p>
            <a:pPr lvl="1"/>
            <a:r>
              <a:rPr lang="en-US" sz="2800" dirty="0">
                <a:latin typeface="Palatino Linotype" panose="02040502050505030304" pitchFamily="18" charset="0"/>
              </a:rPr>
              <a:t>3.) Other presentation-related items</a:t>
            </a:r>
            <a:endParaRPr lang="en-US" sz="1800" dirty="0">
              <a:latin typeface="Palatino Linotype" panose="02040502050505030304" pitchFamily="18" charset="0"/>
            </a:endParaRPr>
          </a:p>
          <a:p>
            <a:pPr lvl="1"/>
            <a:endParaRPr lang="en-US" sz="1800" dirty="0">
              <a:latin typeface="Palatino Linotype" panose="02040502050505030304" pitchFamily="18" charset="0"/>
            </a:endParaRPr>
          </a:p>
          <a:p>
            <a:pPr lvl="1"/>
            <a:r>
              <a:rPr lang="en-US" sz="2800" dirty="0">
                <a:latin typeface="Palatino Linotype" panose="02040502050505030304" pitchFamily="18" charset="0"/>
              </a:rPr>
              <a:t>4.) Practical guidelines on what to show your readers</a:t>
            </a:r>
          </a:p>
          <a:p>
            <a:pPr lvl="2"/>
            <a:r>
              <a:rPr lang="en-US" sz="2400" dirty="0">
                <a:latin typeface="Palatino Linotype" panose="02040502050505030304" pitchFamily="18" charset="0"/>
              </a:rPr>
              <a:t>Behind one beautiful figure is a dozen specification choices </a:t>
            </a:r>
          </a:p>
        </p:txBody>
      </p:sp>
    </p:spTree>
    <p:extLst>
      <p:ext uri="{BB962C8B-B14F-4D97-AF65-F5344CB8AC3E}">
        <p14:creationId xmlns:p14="http://schemas.microsoft.com/office/powerpoint/2010/main" val="15344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CC9F-C3B2-ABA5-0D5D-7DCDC153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285750"/>
            <a:ext cx="11220450" cy="8810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Palatino Linotype" panose="02040502050505030304" pitchFamily="18" charset="0"/>
              </a:rPr>
              <a:t>Presenting your equations within the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E9D46-8500-B0F5-AA06-4640B90FF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711926"/>
            <a:ext cx="12058650" cy="3255491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Palatino Linotype" panose="02040502050505030304" pitchFamily="18" charset="0"/>
              </a:rPr>
              <a:t>Three cases: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(</a:t>
            </a:r>
            <a:r>
              <a:rPr lang="en-US" sz="2200" dirty="0" err="1">
                <a:latin typeface="Palatino Linotype" panose="02040502050505030304" pitchFamily="18" charset="0"/>
              </a:rPr>
              <a:t>i</a:t>
            </a:r>
            <a:r>
              <a:rPr lang="en-US" sz="2200" dirty="0">
                <a:latin typeface="Palatino Linotype" panose="02040502050505030304" pitchFamily="18" charset="0"/>
              </a:rPr>
              <a:t>) You lead with TWFE estimates and then show results from one (or more) of the new estimators (e.g., Sun and Abraham 2021; Callaway and Sant’Anna 2021)</a:t>
            </a:r>
          </a:p>
          <a:p>
            <a:pPr marL="457200" lvl="1" indent="0">
              <a:buNone/>
            </a:pPr>
            <a:endParaRPr lang="en-US" sz="2200" dirty="0">
              <a:latin typeface="Palatino Linotype" panose="02040502050505030304" pitchFamily="18" charset="0"/>
            </a:endParaRP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(ii) You lead with results from one of the new estimators</a:t>
            </a:r>
          </a:p>
          <a:p>
            <a:pPr marL="457200" lvl="1" indent="0">
              <a:buNone/>
            </a:pPr>
            <a:endParaRPr lang="en-US" sz="2200" dirty="0">
              <a:latin typeface="Palatino Linotype" panose="02040502050505030304" pitchFamily="18" charset="0"/>
            </a:endParaRP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(iii) You show a TWFE equation, but only present estimates from one of the new estimators</a:t>
            </a:r>
          </a:p>
          <a:p>
            <a:pPr marL="0" indent="0">
              <a:buNone/>
            </a:pPr>
            <a:endParaRPr lang="en-US" sz="22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44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17FC1-3995-A064-BF94-ED4A3CF94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756" y="1637148"/>
            <a:ext cx="11862487" cy="4607859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Remains a common approach</a:t>
            </a:r>
          </a:p>
          <a:p>
            <a:pPr marL="0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Pros: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Present a baseline equation that is straightforward to describe and reference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Takes up minimal space within the “Empirical Strategy” section of your paper</a:t>
            </a:r>
          </a:p>
          <a:p>
            <a:pPr marL="914400" lvl="2" indent="0">
              <a:buNone/>
            </a:pPr>
            <a:r>
              <a:rPr lang="en-US" dirty="0">
                <a:latin typeface="Palatino Linotype" panose="02040502050505030304" pitchFamily="18" charset="0"/>
              </a:rPr>
              <a:t> 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Present a baseline equation that everyone is familiar with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Anyone who runs regressions (i.e., not just economists) can follow along</a:t>
            </a:r>
          </a:p>
          <a:p>
            <a:pPr marL="914400" lvl="2" indent="0">
              <a:buNone/>
            </a:pPr>
            <a:endParaRPr lang="en-US" sz="16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Cons: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Risk turning off readers who only want to see results from one of the new DD estimators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Big problem when reader is a referee!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6BB256-89AC-312B-7100-63044FF5F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56" y="469558"/>
            <a:ext cx="11032162" cy="107285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Palatino Linotype" panose="02040502050505030304" pitchFamily="18" charset="0"/>
              </a:rPr>
              <a:t>Case (</a:t>
            </a:r>
            <a:r>
              <a:rPr lang="en-US" sz="3600" b="1" dirty="0" err="1">
                <a:latin typeface="Palatino Linotype" panose="02040502050505030304" pitchFamily="18" charset="0"/>
              </a:rPr>
              <a:t>i</a:t>
            </a:r>
            <a:r>
              <a:rPr lang="en-US" sz="3600" b="1" dirty="0">
                <a:latin typeface="Palatino Linotype" panose="02040502050505030304" pitchFamily="18" charset="0"/>
              </a:rPr>
              <a:t>): Lead with TWFE estimates and then show results from one of the new DD estimators</a:t>
            </a:r>
            <a:br>
              <a:rPr lang="en-US" sz="3600" b="1" dirty="0">
                <a:latin typeface="Palatino Linotype" panose="02040502050505030304" pitchFamily="18" charset="0"/>
              </a:rPr>
            </a:br>
            <a:r>
              <a:rPr lang="en-US" sz="3600" b="1" dirty="0">
                <a:latin typeface="Palatino Linotype" panose="0204050205050503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806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B2A0-C860-8FAE-3CB8-E3501CDB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56221"/>
            <a:ext cx="5912655" cy="1616547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Palatino Linotype" panose="02040502050505030304" pitchFamily="18" charset="0"/>
              </a:rPr>
              <a:t>Example of case (</a:t>
            </a:r>
            <a:r>
              <a:rPr lang="en-US" sz="2000" b="1" dirty="0" err="1">
                <a:latin typeface="Palatino Linotype" panose="02040502050505030304" pitchFamily="18" charset="0"/>
              </a:rPr>
              <a:t>i</a:t>
            </a:r>
            <a:r>
              <a:rPr lang="en-US" sz="2000" b="1" dirty="0">
                <a:latin typeface="Palatino Linotype" panose="02040502050505030304" pitchFamily="18" charset="0"/>
              </a:rPr>
              <a:t>):</a:t>
            </a:r>
            <a:br>
              <a:rPr lang="en-US" sz="2000" b="1" dirty="0">
                <a:latin typeface="Palatino Linotype" panose="02040502050505030304" pitchFamily="18" charset="0"/>
              </a:rPr>
            </a:br>
            <a:r>
              <a:rPr lang="en-US" sz="2000" dirty="0">
                <a:latin typeface="Palatino Linotype" panose="02040502050505030304" pitchFamily="18" charset="0"/>
              </a:rPr>
              <a:t>“Imposing Policy on Reluctant Actors: The Hospital Desegregation Campaign and Black </a:t>
            </a:r>
            <a:r>
              <a:rPr lang="en-US" sz="2000" dirty="0" err="1">
                <a:latin typeface="Palatino Linotype" panose="02040502050505030304" pitchFamily="18" charset="0"/>
              </a:rPr>
              <a:t>Postneonatal</a:t>
            </a:r>
            <a:r>
              <a:rPr lang="en-US" sz="2000" dirty="0">
                <a:latin typeface="Palatino Linotype" panose="02040502050505030304" pitchFamily="18" charset="0"/>
              </a:rPr>
              <a:t> Mortality in the Deep South” by Anderson, Charles and Rees (Forthcoming at </a:t>
            </a:r>
            <a:r>
              <a:rPr lang="en-US" sz="2000" i="1" dirty="0">
                <a:latin typeface="Palatino Linotype" panose="02040502050505030304" pitchFamily="18" charset="0"/>
              </a:rPr>
              <a:t>Review of Economics and Statistics</a:t>
            </a:r>
            <a:r>
              <a:rPr lang="en-US" sz="2000" dirty="0">
                <a:latin typeface="Palatino Linotype" panose="02040502050505030304" pitchFamily="18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A234B-F745-4A93-F24B-04B2C70C8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03" y="1960605"/>
            <a:ext cx="5903067" cy="477794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Palatino Linotype" panose="02040502050505030304" pitchFamily="18" charset="0"/>
              </a:rPr>
              <a:t>Entire baseline estimation strategy described in less than one page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Easy to refer back to when exploring extensions:</a:t>
            </a:r>
          </a:p>
          <a:p>
            <a:pPr lvl="1"/>
            <a:r>
              <a:rPr lang="en-US" sz="1800" dirty="0">
                <a:latin typeface="Palatino Linotype" panose="02040502050505030304" pitchFamily="18" charset="0"/>
              </a:rPr>
              <a:t>“Including a vector of controls, </a:t>
            </a:r>
            <a:r>
              <a:rPr lang="en-US" sz="1800" b="1" i="1" dirty="0" err="1">
                <a:latin typeface="Palatino Linotype" panose="02040502050505030304" pitchFamily="18" charset="0"/>
              </a:rPr>
              <a:t>X</a:t>
            </a:r>
            <a:r>
              <a:rPr lang="en-US" sz="1800" b="1" i="1" baseline="-25000" dirty="0" err="1">
                <a:latin typeface="Palatino Linotype" panose="02040502050505030304" pitchFamily="18" charset="0"/>
              </a:rPr>
              <a:t>ct</a:t>
            </a:r>
            <a:r>
              <a:rPr lang="en-US" sz="1800" dirty="0">
                <a:latin typeface="Palatino Linotype" panose="02040502050505030304" pitchFamily="18" charset="0"/>
              </a:rPr>
              <a:t>, on the right-hand side of the estimating equation…” </a:t>
            </a:r>
          </a:p>
          <a:p>
            <a:pPr lvl="1"/>
            <a:r>
              <a:rPr lang="en-US" sz="1800" dirty="0">
                <a:latin typeface="Palatino Linotype" panose="02040502050505030304" pitchFamily="18" charset="0"/>
              </a:rPr>
              <a:t>“In Figure 5, we report event-study estimates based on a modified version of equation (1)…”</a:t>
            </a:r>
          </a:p>
          <a:p>
            <a:pPr lvl="1"/>
            <a:endParaRPr lang="en-US" sz="16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Interaction-weighted estimates from Sun and Abraham (2021) are reported later in paper</a:t>
            </a:r>
          </a:p>
          <a:p>
            <a:pPr lvl="1"/>
            <a:r>
              <a:rPr lang="en-US" sz="1800" dirty="0">
                <a:latin typeface="Palatino Linotype" panose="02040502050505030304" pitchFamily="18" charset="0"/>
              </a:rPr>
              <a:t>Because we do not lead with this estimator, we do not have to present the (more complicated and numerous) equations describing this approach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endParaRPr lang="en-US" sz="2000" dirty="0">
              <a:latin typeface="Palatino Linotype" panose="02040502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A3C0B-5856-ED27-5E39-0E07D0967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461" y="0"/>
            <a:ext cx="6147539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7386E-9C9F-7C5C-78D1-8C4A4870EB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95"/>
          <a:stretch/>
        </p:blipFill>
        <p:spPr>
          <a:xfrm>
            <a:off x="5892251" y="1242637"/>
            <a:ext cx="6233846" cy="4682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56612E-6765-13AD-2E41-8370B52D3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971" y="5751697"/>
            <a:ext cx="6080405" cy="721829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1715FE66-787C-9D04-4DF0-6B95302BF45F}"/>
              </a:ext>
            </a:extLst>
          </p:cNvPr>
          <p:cNvSpPr/>
          <p:nvPr/>
        </p:nvSpPr>
        <p:spPr>
          <a:xfrm>
            <a:off x="5953707" y="263611"/>
            <a:ext cx="208196" cy="6079524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BEBCE7-803B-224C-7FC8-8B8E747A6274}"/>
              </a:ext>
            </a:extLst>
          </p:cNvPr>
          <p:cNvCxnSpPr>
            <a:cxnSpLocks/>
          </p:cNvCxnSpPr>
          <p:nvPr/>
        </p:nvCxnSpPr>
        <p:spPr>
          <a:xfrm>
            <a:off x="2799761" y="2479249"/>
            <a:ext cx="3169209" cy="7252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07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0" grpId="0" animBg="1"/>
      <p:bldP spid="1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B2A0-C860-8FAE-3CB8-E3501CDB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09" y="592850"/>
            <a:ext cx="11615351" cy="1291154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Example of case (ii):</a:t>
            </a:r>
            <a:br>
              <a:rPr lang="en-US" sz="2800" b="1" dirty="0">
                <a:latin typeface="Palatino Linotype" panose="02040502050505030304" pitchFamily="18" charset="0"/>
              </a:rPr>
            </a:br>
            <a:r>
              <a:rPr lang="en-US" sz="2800" dirty="0">
                <a:latin typeface="Palatino Linotype" panose="02040502050505030304" pitchFamily="18" charset="0"/>
              </a:rPr>
              <a:t>“Changes in Family Structure and Welfare Participation Since the 1960s: The Role of Legal Services” by Cunningham and Goodman-Bacon</a:t>
            </a:r>
            <a:br>
              <a:rPr lang="en-US" sz="2800" dirty="0">
                <a:latin typeface="Palatino Linotype" panose="02040502050505030304" pitchFamily="18" charset="0"/>
              </a:rPr>
            </a:br>
            <a:r>
              <a:rPr lang="en-US" sz="2800" dirty="0">
                <a:latin typeface="Palatino Linotype" panose="02040502050505030304" pitchFamily="18" charset="0"/>
              </a:rPr>
              <a:t>(</a:t>
            </a:r>
            <a:r>
              <a:rPr lang="en-US" sz="2800" i="1" dirty="0">
                <a:latin typeface="Palatino Linotype" panose="02040502050505030304" pitchFamily="18" charset="0"/>
              </a:rPr>
              <a:t>AEJ: Applied Economics, </a:t>
            </a:r>
            <a:r>
              <a:rPr lang="en-US" sz="2800" dirty="0">
                <a:latin typeface="Palatino Linotype" panose="02040502050505030304" pitchFamily="18" charset="0"/>
              </a:rPr>
              <a:t>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A234B-F745-4A93-F24B-04B2C70C8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30" y="2332681"/>
            <a:ext cx="11961340" cy="414025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Starting point: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Estimators proposed by Callaway and </a:t>
            </a:r>
            <a:r>
              <a:rPr lang="en-US" sz="2200" dirty="0" err="1">
                <a:latin typeface="Palatino Linotype" panose="02040502050505030304" pitchFamily="18" charset="0"/>
              </a:rPr>
              <a:t>Sant’Anna</a:t>
            </a:r>
            <a:r>
              <a:rPr lang="en-US" sz="2200" dirty="0">
                <a:latin typeface="Palatino Linotype" panose="02040502050505030304" pitchFamily="18" charset="0"/>
              </a:rPr>
              <a:t> (2020) and </a:t>
            </a:r>
            <a:r>
              <a:rPr lang="en-US" sz="2200" dirty="0" err="1">
                <a:latin typeface="Palatino Linotype" panose="02040502050505030304" pitchFamily="18" charset="0"/>
              </a:rPr>
              <a:t>Sant’Anna</a:t>
            </a:r>
            <a:r>
              <a:rPr lang="en-US" sz="2200" dirty="0">
                <a:latin typeface="Palatino Linotype" panose="02040502050505030304" pitchFamily="18" charset="0"/>
              </a:rPr>
              <a:t> and Zhao (2020)</a:t>
            </a:r>
          </a:p>
          <a:p>
            <a:pPr marL="457200" lvl="1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Avoid entirely having to address theoretical issues associated with TWFE</a:t>
            </a:r>
          </a:p>
          <a:p>
            <a:pPr lvl="1"/>
            <a:r>
              <a:rPr lang="en-US" sz="2000" dirty="0">
                <a:latin typeface="Palatino Linotype" panose="02040502050505030304" pitchFamily="18" charset="0"/>
              </a:rPr>
              <a:t>Mention in passing in a footnote</a:t>
            </a:r>
          </a:p>
          <a:p>
            <a:pPr marL="0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Tradeoff:  Baseline strategies require 4 equations and take over 4 pages to discuss</a:t>
            </a:r>
          </a:p>
          <a:p>
            <a:pPr marL="0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Up to this point, I’ve preferred the approach by Anderson et al. (forthcoming)</a:t>
            </a:r>
          </a:p>
          <a:p>
            <a:pPr marL="0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Going forward, I’m going to proceed in the manner of Cunningham and Goodman-Bacon (2025)</a:t>
            </a:r>
          </a:p>
          <a:p>
            <a:pPr marL="0" indent="0">
              <a:buNone/>
            </a:pPr>
            <a:endParaRPr lang="en-US" sz="2000" dirty="0">
              <a:latin typeface="Palatino Linotype" panose="02040502050505030304" pitchFamily="18" charset="0"/>
            </a:endParaRPr>
          </a:p>
          <a:p>
            <a:endParaRPr lang="en-US" sz="20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59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D7BE-9E94-64B7-429B-8D2322840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43914"/>
            <a:ext cx="12192000" cy="524750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Recent working paper: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Estimate relationship between state sobriety checkpoint laws and traffic fatalities.  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The only equation they present is the following TWFE specification: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The authors never present TWFE estimates in their paper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They only show interaction-weighted estimates from Sun and Abraham (2021)</a:t>
            </a:r>
          </a:p>
          <a:p>
            <a:pPr lvl="1"/>
            <a:r>
              <a:rPr lang="en-US" sz="2000" dirty="0">
                <a:latin typeface="Palatino Linotype" panose="02040502050505030304" pitchFamily="18" charset="0"/>
              </a:rPr>
              <a:t>Poor practice and form</a:t>
            </a:r>
          </a:p>
          <a:p>
            <a:pPr lvl="1"/>
            <a:r>
              <a:rPr lang="en-US" sz="2000" dirty="0">
                <a:latin typeface="Palatino Linotype" panose="02040502050505030304" pitchFamily="18" charset="0"/>
              </a:rPr>
              <a:t>Wrong!</a:t>
            </a:r>
          </a:p>
          <a:p>
            <a:pPr lvl="1"/>
            <a:r>
              <a:rPr lang="en-US" sz="2000" dirty="0">
                <a:latin typeface="Palatino Linotype" panose="02040502050505030304" pitchFamily="18" charset="0"/>
              </a:rPr>
              <a:t>Unfortunately, this happens way too often…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A5884C-70E4-785E-D324-085AEFBA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271849"/>
            <a:ext cx="11065475" cy="68567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Palatino Linotype" panose="02040502050505030304" pitchFamily="18" charset="0"/>
              </a:rPr>
              <a:t>Example of case (iii)…and what NOT to do!</a:t>
            </a:r>
            <a:endParaRPr lang="en-US" sz="3200" dirty="0">
              <a:latin typeface="Palatino Linotype" panose="0204050205050503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B3BDA3-DEB6-7E53-BCEC-A301D7B52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634" y="2928734"/>
            <a:ext cx="9028523" cy="100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6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37CA-5FD0-84A2-E7BF-53FB6FD5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89" y="285621"/>
            <a:ext cx="10515600" cy="100965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Making event-study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62B0A-300C-AF40-14A6-209D75566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19" y="1295272"/>
            <a:ext cx="11765692" cy="4881691"/>
          </a:xfrm>
        </p:spPr>
        <p:txBody>
          <a:bodyPr>
            <a:no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Two standard approaches</a:t>
            </a:r>
          </a:p>
          <a:p>
            <a:pPr marL="0" indent="0">
              <a:buNone/>
            </a:pPr>
            <a:endParaRPr lang="en-US" dirty="0"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Palatino Linotype" panose="02040502050505030304" pitchFamily="18" charset="0"/>
              </a:rPr>
              <a:t>“Connected”</a:t>
            </a:r>
          </a:p>
          <a:p>
            <a:pPr marL="0" indent="0" algn="ctr">
              <a:buNone/>
            </a:pPr>
            <a:r>
              <a:rPr lang="en-US" dirty="0">
                <a:latin typeface="Palatino Linotype" panose="02040502050505030304" pitchFamily="18" charset="0"/>
              </a:rPr>
              <a:t>vs. </a:t>
            </a:r>
          </a:p>
          <a:p>
            <a:pPr marL="0" indent="0" algn="ctr">
              <a:buNone/>
            </a:pPr>
            <a:r>
              <a:rPr lang="en-US" dirty="0">
                <a:latin typeface="Palatino Linotype" panose="02040502050505030304" pitchFamily="18" charset="0"/>
              </a:rPr>
              <a:t>“Disconnected”</a:t>
            </a:r>
          </a:p>
          <a:p>
            <a:pPr marL="0" indent="0" algn="ctr">
              <a:buNone/>
            </a:pPr>
            <a:endParaRPr lang="en-US" dirty="0"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See Scott’s </a:t>
            </a:r>
            <a:r>
              <a:rPr lang="en-US" dirty="0" err="1">
                <a:latin typeface="Palatino Linotype" panose="02040502050505030304" pitchFamily="18" charset="0"/>
              </a:rPr>
              <a:t>substack</a:t>
            </a:r>
            <a:r>
              <a:rPr lang="en-US" dirty="0">
                <a:latin typeface="Palatino Linotype" panose="02040502050505030304" pitchFamily="18" charset="0"/>
              </a:rPr>
              <a:t> on this:</a:t>
            </a:r>
          </a:p>
          <a:p>
            <a:pPr marL="0" indent="0">
              <a:buNone/>
            </a:pPr>
            <a:r>
              <a:rPr lang="en-US" dirty="0">
                <a:latin typeface="Palatino Linotype" panose="02040502050505030304" pitchFamily="18" charset="0"/>
                <a:hlinkClick r:id="rId2"/>
              </a:rPr>
              <a:t>https://causalinf.substack.com/p/data-visualization-and-the-event</a:t>
            </a:r>
            <a:r>
              <a:rPr lang="en-US" dirty="0">
                <a:latin typeface="Palatino Linotype" panose="0204050205050503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Palatino Linotype" panose="02040502050505030304" pitchFamily="18" charset="0"/>
              </a:rPr>
              <a:t>	-I’m happily stealing from this in what follows…</a:t>
            </a:r>
          </a:p>
        </p:txBody>
      </p:sp>
    </p:spTree>
    <p:extLst>
      <p:ext uri="{BB962C8B-B14F-4D97-AF65-F5344CB8AC3E}">
        <p14:creationId xmlns:p14="http://schemas.microsoft.com/office/powerpoint/2010/main" val="124970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74FB-4504-2B81-DDE2-69CC80EE9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49" y="5450762"/>
            <a:ext cx="11607113" cy="343124"/>
          </a:xfrm>
        </p:spPr>
        <p:txBody>
          <a:bodyPr>
            <a:normAutofit/>
          </a:bodyPr>
          <a:lstStyle/>
          <a:p>
            <a:pPr algn="r"/>
            <a:r>
              <a:rPr lang="en-US" sz="1200" dirty="0">
                <a:latin typeface="Palatino Linotype" panose="02040502050505030304" pitchFamily="18" charset="0"/>
              </a:rPr>
              <a:t>Figures taken from Scott’s </a:t>
            </a:r>
            <a:r>
              <a:rPr lang="en-US" sz="1200" dirty="0" err="1">
                <a:latin typeface="Palatino Linotype" panose="02040502050505030304" pitchFamily="18" charset="0"/>
              </a:rPr>
              <a:t>substack</a:t>
            </a:r>
            <a:r>
              <a:rPr lang="en-US" sz="1200" dirty="0">
                <a:latin typeface="Palatino Linotype" panose="02040502050505030304" pitchFamily="18" charset="0"/>
              </a:rPr>
              <a:t> on “Visualizing your event study plot”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9DA67C-C97A-063A-67C9-10131A76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49" y="235228"/>
            <a:ext cx="10515600" cy="89161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“Connected” (aka bow-tie) event-study figures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3DE08F-9BE0-AEE6-B0E9-FAF91A02A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167" y="1272744"/>
            <a:ext cx="6067796" cy="417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46237D-C645-CC29-F5C7-26930A764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24" y="1469970"/>
            <a:ext cx="5515152" cy="432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6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9F3F7-4328-4A2B-0B86-FF7FBBB77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920" y="1121525"/>
            <a:ext cx="6565557" cy="5299420"/>
          </a:xfrm>
        </p:spPr>
        <p:txBody>
          <a:bodyPr>
            <a:no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I dislike this style of event study</a:t>
            </a:r>
          </a:p>
          <a:p>
            <a:pPr marL="0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200" dirty="0">
                <a:latin typeface="Palatino Linotype" panose="02040502050505030304" pitchFamily="18" charset="0"/>
              </a:rPr>
              <a:t>Optical illusion #1: More point estimates than were actually estimated</a:t>
            </a:r>
          </a:p>
          <a:p>
            <a:pPr marL="0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200" dirty="0">
                <a:latin typeface="Palatino Linotype" panose="02040502050505030304" pitchFamily="18" charset="0"/>
              </a:rPr>
              <a:t>Optical illusion #2: Tighter confidence intervals around omitted category</a:t>
            </a:r>
          </a:p>
          <a:p>
            <a:pPr lvl="1"/>
            <a:r>
              <a:rPr lang="en-US" sz="1800" dirty="0">
                <a:latin typeface="Palatino Linotype" panose="02040502050505030304" pitchFamily="18" charset="0"/>
              </a:rPr>
              <a:t>If you asked a layperson about this portion of the figure, what would they say?</a:t>
            </a:r>
          </a:p>
          <a:p>
            <a:pPr lvl="1"/>
            <a:r>
              <a:rPr lang="en-US" sz="1800" dirty="0">
                <a:latin typeface="Palatino Linotype" panose="02040502050505030304" pitchFamily="18" charset="0"/>
              </a:rPr>
              <a:t>They would have no idea that this is just an artifact of connecting dots between estimates at t = -1 and t = 0 (or between t = 0 and t = 1), where the CIs are equal to zero at the omitted category (i.e., at t = 0).</a:t>
            </a:r>
          </a:p>
          <a:p>
            <a:pPr marL="457200" lvl="1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200" dirty="0">
                <a:latin typeface="Palatino Linotype" panose="02040502050505030304" pitchFamily="18" charset="0"/>
              </a:rPr>
              <a:t>Optical illusion #3: Quick glance at CIs and you can almost fool yourself there are pre-trends</a:t>
            </a:r>
          </a:p>
          <a:p>
            <a:pPr marL="0" indent="0">
              <a:buNone/>
            </a:pPr>
            <a:endParaRPr lang="en-US" sz="1000" dirty="0">
              <a:latin typeface="Palatino Linotype" panose="02040502050505030304" pitchFamily="18" charset="0"/>
            </a:endParaRPr>
          </a:p>
          <a:p>
            <a:r>
              <a:rPr lang="en-US" sz="2200" dirty="0">
                <a:latin typeface="Palatino Linotype" panose="02040502050505030304" pitchFamily="18" charset="0"/>
              </a:rPr>
              <a:t>Just not very aesthetically pleasing in general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pPr marL="457200" lvl="1" indent="0">
              <a:buNone/>
            </a:pPr>
            <a:endParaRPr lang="en-US" sz="1600" dirty="0">
              <a:latin typeface="Palatino Linotype" panose="0204050205050503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2831AF-D3AE-6CDE-BD73-F340F2CAA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881" y="305250"/>
            <a:ext cx="10515600" cy="75157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“Connected” (aka bow-tie) event-study figures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DD29D7-E863-7BBD-8F64-E789B2DA9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13" y="1481117"/>
            <a:ext cx="5453052" cy="389576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EF6C71-19BA-9CDB-DD7B-9776D6240C81}"/>
              </a:ext>
            </a:extLst>
          </p:cNvPr>
          <p:cNvSpPr txBox="1">
            <a:spLocks/>
          </p:cNvSpPr>
          <p:nvPr/>
        </p:nvSpPr>
        <p:spPr>
          <a:xfrm>
            <a:off x="373263" y="5458051"/>
            <a:ext cx="5247502" cy="3431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Palatino Linotype" panose="02040502050505030304" pitchFamily="18" charset="0"/>
              </a:rPr>
              <a:t>Figure taken from Scott’s </a:t>
            </a:r>
            <a:r>
              <a:rPr lang="en-US" sz="1600" dirty="0" err="1">
                <a:latin typeface="Palatino Linotype" panose="02040502050505030304" pitchFamily="18" charset="0"/>
              </a:rPr>
              <a:t>substack</a:t>
            </a:r>
            <a:r>
              <a:rPr lang="en-US" sz="1600" dirty="0">
                <a:latin typeface="Palatino Linotype" panose="02040502050505030304" pitchFamily="18" charset="0"/>
              </a:rPr>
              <a:t> on “Visualizing your event study plot”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736D8D-CB2A-516C-E5FC-4A420F6E3AA3}"/>
              </a:ext>
            </a:extLst>
          </p:cNvPr>
          <p:cNvSpPr/>
          <p:nvPr/>
        </p:nvSpPr>
        <p:spPr>
          <a:xfrm>
            <a:off x="2677297" y="2899719"/>
            <a:ext cx="848498" cy="7084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67F466-11F1-BE42-EFB6-735FE2BBD95F}"/>
              </a:ext>
            </a:extLst>
          </p:cNvPr>
          <p:cNvCxnSpPr>
            <a:cxnSpLocks/>
          </p:cNvCxnSpPr>
          <p:nvPr/>
        </p:nvCxnSpPr>
        <p:spPr>
          <a:xfrm flipH="1" flipV="1">
            <a:off x="3525795" y="3324011"/>
            <a:ext cx="2570205" cy="2841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11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86AD988-4DF9-BA4D-10E4-53F6E2F5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406" y="176211"/>
            <a:ext cx="10515600" cy="100965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“Disconnected” event-study figures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F99082-1E24-2F80-29DB-13A8FFA00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55" y="1237905"/>
            <a:ext cx="5674800" cy="414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 (1 of 1)">
            <a:extLst>
              <a:ext uri="{FF2B5EF4-FFF2-40B4-BE49-F238E27FC236}">
                <a16:creationId xmlns:a16="http://schemas.microsoft.com/office/drawing/2014/main" id="{79690A9A-7D78-FAA6-8460-06C380460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310" y="1180782"/>
            <a:ext cx="6187690" cy="4493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55AA73C-6912-9A4C-EAD8-9F679D49F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753" y="5502551"/>
            <a:ext cx="11607113" cy="343124"/>
          </a:xfrm>
        </p:spPr>
        <p:txBody>
          <a:bodyPr>
            <a:normAutofit/>
          </a:bodyPr>
          <a:lstStyle/>
          <a:p>
            <a:pPr algn="r"/>
            <a:r>
              <a:rPr lang="en-US" sz="1200" dirty="0">
                <a:latin typeface="Palatino Linotype" panose="02040502050505030304" pitchFamily="18" charset="0"/>
              </a:rPr>
              <a:t>Figures taken from Scott’s </a:t>
            </a:r>
            <a:r>
              <a:rPr lang="en-US" sz="1200" dirty="0" err="1">
                <a:latin typeface="Palatino Linotype" panose="02040502050505030304" pitchFamily="18" charset="0"/>
              </a:rPr>
              <a:t>substack</a:t>
            </a:r>
            <a:r>
              <a:rPr lang="en-US" sz="1200" dirty="0">
                <a:latin typeface="Palatino Linotype" panose="02040502050505030304" pitchFamily="18" charset="0"/>
              </a:rPr>
              <a:t> on “Visualizing your event study plot”</a:t>
            </a:r>
          </a:p>
        </p:txBody>
      </p:sp>
    </p:spTree>
    <p:extLst>
      <p:ext uri="{BB962C8B-B14F-4D97-AF65-F5344CB8AC3E}">
        <p14:creationId xmlns:p14="http://schemas.microsoft.com/office/powerpoint/2010/main" val="740074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45DA4-B58C-41A0-6557-FD40F530A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648" y="1467095"/>
            <a:ext cx="5864351" cy="4661857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Does not suffer from the optical illusions present in the bow-tie-style figures</a:t>
            </a:r>
          </a:p>
          <a:p>
            <a:pPr lvl="1"/>
            <a:r>
              <a:rPr lang="en-US" sz="2000" dirty="0">
                <a:latin typeface="Palatino Linotype" panose="02040502050505030304" pitchFamily="18" charset="0"/>
              </a:rPr>
              <a:t>No illusion that point estimates exist across some continuous space</a:t>
            </a:r>
          </a:p>
          <a:p>
            <a:pPr lvl="1"/>
            <a:r>
              <a:rPr lang="en-US" sz="2000" dirty="0">
                <a:latin typeface="Palatino Linotype" panose="02040502050505030304" pitchFamily="18" charset="0"/>
              </a:rPr>
              <a:t>No “pinching” of the CIs on either side of the omitted category</a:t>
            </a:r>
          </a:p>
          <a:p>
            <a:pPr lvl="1"/>
            <a:endParaRPr lang="en-US" sz="1600" dirty="0">
              <a:latin typeface="Palatino Linotype" panose="02040502050505030304" pitchFamily="18" charset="0"/>
            </a:endParaRPr>
          </a:p>
          <a:p>
            <a:r>
              <a:rPr lang="en-US" sz="2200" dirty="0">
                <a:latin typeface="Palatino Linotype" panose="02040502050505030304" pitchFamily="18" charset="0"/>
              </a:rPr>
              <a:t>Clean and pretty!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D4E941-CD0E-FF5E-7F02-427F8EF2D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52" y="365126"/>
            <a:ext cx="10515600" cy="71038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“Disconnected” event-study figures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453DD-0B3F-4513-F96F-DD6BE81BA70E}"/>
              </a:ext>
            </a:extLst>
          </p:cNvPr>
          <p:cNvSpPr txBox="1"/>
          <p:nvPr/>
        </p:nvSpPr>
        <p:spPr>
          <a:xfrm>
            <a:off x="1735796" y="5505490"/>
            <a:ext cx="5173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alatino Linotype" panose="02040502050505030304" pitchFamily="18" charset="0"/>
              </a:rPr>
              <a:t>Figure from Anderson et al. (forthcoming </a:t>
            </a:r>
            <a:r>
              <a:rPr lang="en-US" sz="1200" i="1" dirty="0">
                <a:latin typeface="Palatino Linotype" panose="02040502050505030304" pitchFamily="18" charset="0"/>
              </a:rPr>
              <a:t>Journal of Human Resources</a:t>
            </a:r>
            <a:r>
              <a:rPr lang="en-US" sz="1200" dirty="0">
                <a:latin typeface="Palatino Linotype" panose="02040502050505030304" pitchFamily="18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3BD7C9-CA14-F9C3-771B-9F8DD526D5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23" r="3625"/>
          <a:stretch/>
        </p:blipFill>
        <p:spPr>
          <a:xfrm>
            <a:off x="0" y="1075511"/>
            <a:ext cx="6254910" cy="439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50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5A417-5492-9F53-95C9-83D0C6C6E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697" y="1293341"/>
            <a:ext cx="5068330" cy="455368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Palatino Linotype" panose="02040502050505030304" pitchFamily="18" charset="0"/>
              </a:rPr>
              <a:t>Better than the bow-tie approach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But why connect the dots?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2E856E-F305-F872-49D0-048D54E6F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71" y="420129"/>
            <a:ext cx="10515600" cy="80100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Hybrid approach?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30D161-EA05-0CF5-D468-FAA4DB1FE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711" y="145576"/>
            <a:ext cx="6812624" cy="6176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8A5C91-EF67-5178-5884-9CBEB9233C49}"/>
              </a:ext>
            </a:extLst>
          </p:cNvPr>
          <p:cNvSpPr txBox="1"/>
          <p:nvPr/>
        </p:nvSpPr>
        <p:spPr>
          <a:xfrm>
            <a:off x="6894576" y="6435425"/>
            <a:ext cx="5042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alatino Linotype" panose="02040502050505030304" pitchFamily="18" charset="0"/>
              </a:rPr>
              <a:t>Figure from Deza et al. (forthcoming </a:t>
            </a:r>
            <a:r>
              <a:rPr lang="en-US" sz="1200" i="1" dirty="0">
                <a:latin typeface="Palatino Linotype" panose="02040502050505030304" pitchFamily="18" charset="0"/>
              </a:rPr>
              <a:t>Journal of Human Resources</a:t>
            </a:r>
            <a:r>
              <a:rPr lang="en-US" sz="1200" dirty="0">
                <a:latin typeface="Palatino Linotype" panose="0204050205050503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104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841CB-393D-170E-5293-6B3E4375F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35440"/>
            <a:ext cx="4950941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Palatino Linotype" panose="02040502050505030304" pitchFamily="18" charset="0"/>
              </a:rPr>
              <a:t>Use white space to present additional information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Just like you would with a table, make sure your notes allow the figure to “stand alone”</a:t>
            </a:r>
          </a:p>
          <a:p>
            <a:pPr lvl="1"/>
            <a:r>
              <a:rPr lang="en-US" sz="1600" dirty="0">
                <a:latin typeface="Palatino Linotype" panose="02040502050505030304" pitchFamily="18" charset="0"/>
              </a:rPr>
              <a:t>Do not make your reader wade back through the manuscript to figure out what they are looking at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6F9214-0084-0851-6DF1-0834E155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97" y="399705"/>
            <a:ext cx="10515600" cy="75981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More on event-study figures: Providing important information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5BB874-C226-A983-1F2F-DF70C0748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607" y="1078281"/>
            <a:ext cx="6996593" cy="405198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2F5E79-21E9-C183-0411-A65E0CEC9739}"/>
              </a:ext>
            </a:extLst>
          </p:cNvPr>
          <p:cNvCxnSpPr>
            <a:cxnSpLocks/>
          </p:cNvCxnSpPr>
          <p:nvPr/>
        </p:nvCxnSpPr>
        <p:spPr>
          <a:xfrm>
            <a:off x="3715265" y="1853514"/>
            <a:ext cx="2897291" cy="23770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1253A43-7FC9-4A04-5FFD-3D2AA3127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653" y="5079287"/>
            <a:ext cx="7428277" cy="136102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6CF3C4-D853-C256-EDEB-DEC3CD7013BA}"/>
              </a:ext>
            </a:extLst>
          </p:cNvPr>
          <p:cNvCxnSpPr>
            <a:cxnSpLocks/>
          </p:cNvCxnSpPr>
          <p:nvPr/>
        </p:nvCxnSpPr>
        <p:spPr>
          <a:xfrm>
            <a:off x="3410465" y="3311611"/>
            <a:ext cx="2306594" cy="22799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7B1E11-A477-8E62-9A36-CD0AF3993A02}"/>
              </a:ext>
            </a:extLst>
          </p:cNvPr>
          <p:cNvSpPr txBox="1"/>
          <p:nvPr/>
        </p:nvSpPr>
        <p:spPr>
          <a:xfrm>
            <a:off x="5923005" y="6305554"/>
            <a:ext cx="5964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latin typeface="Palatino Linotype" panose="02040502050505030304" pitchFamily="18" charset="0"/>
              </a:rPr>
              <a:t>Figure from Anderson et al. (forthcoming, </a:t>
            </a:r>
            <a:r>
              <a:rPr lang="en-US" sz="1200" i="1" dirty="0">
                <a:latin typeface="Palatino Linotype" panose="02040502050505030304" pitchFamily="18" charset="0"/>
              </a:rPr>
              <a:t>Review of Economics and Statistics</a:t>
            </a:r>
            <a:r>
              <a:rPr lang="en-US" sz="1200" dirty="0">
                <a:latin typeface="Palatino Linotype" panose="02040502050505030304" pitchFamily="18" charset="0"/>
              </a:rPr>
              <a:t>) </a:t>
            </a:r>
          </a:p>
          <a:p>
            <a:pPr algn="r"/>
            <a:r>
              <a:rPr lang="en-US" sz="1200" dirty="0">
                <a:latin typeface="Palatino Linotype" panose="02040502050505030304" pitchFamily="18" charset="0"/>
              </a:rPr>
              <a:t>Panels B and C of figure omitted for brevity</a:t>
            </a:r>
          </a:p>
        </p:txBody>
      </p:sp>
    </p:spTree>
    <p:extLst>
      <p:ext uri="{BB962C8B-B14F-4D97-AF65-F5344CB8AC3E}">
        <p14:creationId xmlns:p14="http://schemas.microsoft.com/office/powerpoint/2010/main" val="43424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D2C61-B1DF-AD4F-691A-3C3EFD69C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5847CA-6C6B-554F-67A7-C1A55C8E2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33" y="153594"/>
            <a:ext cx="10515600" cy="75981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More on event-study figures: Providing important information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D70FE7-2A7B-8E97-D970-F1606F22B68A}"/>
              </a:ext>
            </a:extLst>
          </p:cNvPr>
          <p:cNvSpPr txBox="1"/>
          <p:nvPr/>
        </p:nvSpPr>
        <p:spPr>
          <a:xfrm>
            <a:off x="8811232" y="1444214"/>
            <a:ext cx="342549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Palatino Linotype" panose="02040502050505030304" pitchFamily="18" charset="0"/>
              </a:rPr>
              <a:t>You can even provide important institutional details in the white space of your event-study figures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5039AB-927E-6B25-4676-6C25F4A4B2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3406"/>
            <a:ext cx="8757187" cy="5254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19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16DE2-CCD6-2A6A-8411-83894D3D9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1628" y="1295401"/>
            <a:ext cx="7158484" cy="416834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Palatino Linotype" panose="02040502050505030304" pitchFamily="18" charset="0"/>
              </a:rPr>
              <a:t>I never present over two sets of estimates in any one figure</a:t>
            </a:r>
          </a:p>
          <a:p>
            <a:pPr lvl="1"/>
            <a:r>
              <a:rPr lang="en-US" sz="1600" dirty="0">
                <a:latin typeface="Palatino Linotype" panose="02040502050505030304" pitchFamily="18" charset="0"/>
              </a:rPr>
              <a:t>Avoid clutter!</a:t>
            </a:r>
          </a:p>
          <a:p>
            <a:pPr lvl="1"/>
            <a:endParaRPr lang="en-US" sz="1600" dirty="0">
              <a:latin typeface="Palatino Linotype" panose="02040502050505030304" pitchFamily="18" charset="0"/>
            </a:endParaRPr>
          </a:p>
          <a:p>
            <a:pPr lvl="1"/>
            <a:endParaRPr lang="en-US" sz="1600" dirty="0">
              <a:latin typeface="Palatino Linotype" panose="02040502050505030304" pitchFamily="18" charset="0"/>
            </a:endParaRPr>
          </a:p>
          <a:p>
            <a:pPr lvl="1"/>
            <a:endParaRPr lang="en-US" sz="1600" dirty="0">
              <a:latin typeface="Palatino Linotype" panose="02040502050505030304" pitchFamily="18" charset="0"/>
            </a:endParaRPr>
          </a:p>
          <a:p>
            <a:pPr lvl="1"/>
            <a:endParaRPr lang="en-US" sz="1600" dirty="0">
              <a:latin typeface="Palatino Linotype" panose="02040502050505030304" pitchFamily="18" charset="0"/>
            </a:endParaRPr>
          </a:p>
          <a:p>
            <a:pPr lvl="1"/>
            <a:endParaRPr lang="en-US" sz="1600" dirty="0">
              <a:latin typeface="Palatino Linotype" panose="02040502050505030304" pitchFamily="18" charset="0"/>
            </a:endParaRPr>
          </a:p>
          <a:p>
            <a:pPr lvl="1"/>
            <a:endParaRPr lang="en-US" sz="1600" dirty="0">
              <a:latin typeface="Palatino Linotype" panose="02040502050505030304" pitchFamily="18" charset="0"/>
            </a:endParaRPr>
          </a:p>
          <a:p>
            <a:pPr lvl="1"/>
            <a:endParaRPr lang="en-US" sz="1600" dirty="0">
              <a:latin typeface="Palatino Linotype" panose="02040502050505030304" pitchFamily="18" charset="0"/>
            </a:endParaRPr>
          </a:p>
          <a:p>
            <a:pPr lvl="1"/>
            <a:endParaRPr lang="en-US" sz="16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I’m not a fan of this…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BF4AD6-259D-AE85-6D5A-6CA8BB6C3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77" y="115331"/>
            <a:ext cx="10515600" cy="67743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More on event-study figures: Keep it nice and neat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7CDF0-3932-B88C-5491-A072BBEB9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77" y="4069492"/>
            <a:ext cx="4779842" cy="27885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63B57F-2ED6-02D8-B08F-1D57D0D30814}"/>
              </a:ext>
            </a:extLst>
          </p:cNvPr>
          <p:cNvSpPr txBox="1"/>
          <p:nvPr/>
        </p:nvSpPr>
        <p:spPr>
          <a:xfrm>
            <a:off x="4712044" y="6465670"/>
            <a:ext cx="5173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alatino Linotype" panose="02040502050505030304" pitchFamily="18" charset="0"/>
              </a:rPr>
              <a:t>Figure from </a:t>
            </a:r>
            <a:r>
              <a:rPr lang="en-US" sz="1200" dirty="0" err="1">
                <a:latin typeface="Palatino Linotype" panose="02040502050505030304" pitchFamily="18" charset="0"/>
              </a:rPr>
              <a:t>Braghieri</a:t>
            </a:r>
            <a:r>
              <a:rPr lang="en-US" sz="1200" dirty="0">
                <a:latin typeface="Palatino Linotype" panose="02040502050505030304" pitchFamily="18" charset="0"/>
              </a:rPr>
              <a:t> et al. (2022, </a:t>
            </a:r>
            <a:r>
              <a:rPr lang="en-US" sz="1200" i="1" dirty="0">
                <a:latin typeface="Palatino Linotype" panose="02040502050505030304" pitchFamily="18" charset="0"/>
              </a:rPr>
              <a:t>American Economic Review</a:t>
            </a:r>
            <a:r>
              <a:rPr lang="en-US" sz="1200" dirty="0">
                <a:latin typeface="Palatino Linotype" panose="02040502050505030304" pitchFamily="18" charset="0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0084DC-D7BA-0AF2-5272-9057EC3F2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88" y="754495"/>
            <a:ext cx="4572250" cy="319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23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07EA9-0FF1-D8A4-7308-39A323CE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9" y="1219200"/>
            <a:ext cx="5175504" cy="4957763"/>
          </a:xfrm>
        </p:spPr>
        <p:txBody>
          <a:bodyPr>
            <a:noAutofit/>
          </a:bodyPr>
          <a:lstStyle/>
          <a:p>
            <a:r>
              <a:rPr lang="en-US" sz="2000" dirty="0">
                <a:latin typeface="Palatino Linotype" panose="02040502050505030304" pitchFamily="18" charset="0"/>
              </a:rPr>
              <a:t>What if I want to report the exact coefficient estimates from my event study?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One option…</a:t>
            </a:r>
          </a:p>
          <a:p>
            <a:pPr marL="0" indent="0">
              <a:buNone/>
            </a:pPr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I’m not sold on appearance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4A3E02-6D6B-7023-91BC-BDB33D3E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92" y="338201"/>
            <a:ext cx="10515600" cy="685672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More on event-study figures: Showing values of coefficient estimates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B222A6-EFE9-B914-3119-846AC791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3" y="1131113"/>
            <a:ext cx="6229488" cy="475039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8FD4E7C-1F4F-B1A5-19E7-B15567501219}"/>
              </a:ext>
            </a:extLst>
          </p:cNvPr>
          <p:cNvSpPr txBox="1">
            <a:spLocks/>
          </p:cNvSpPr>
          <p:nvPr/>
        </p:nvSpPr>
        <p:spPr>
          <a:xfrm>
            <a:off x="335692" y="5881510"/>
            <a:ext cx="11607113" cy="34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>
                <a:latin typeface="Palatino Linotype" panose="02040502050505030304" pitchFamily="18" charset="0"/>
              </a:rPr>
              <a:t>Figure taken from Scott’s </a:t>
            </a:r>
            <a:r>
              <a:rPr lang="en-US" sz="1200" dirty="0" err="1">
                <a:latin typeface="Palatino Linotype" panose="02040502050505030304" pitchFamily="18" charset="0"/>
              </a:rPr>
              <a:t>substack</a:t>
            </a:r>
            <a:r>
              <a:rPr lang="en-US" sz="1200" dirty="0">
                <a:latin typeface="Palatino Linotype" panose="02040502050505030304" pitchFamily="18" charset="0"/>
              </a:rPr>
              <a:t> on “Visualizing your event study plot”</a:t>
            </a:r>
          </a:p>
        </p:txBody>
      </p:sp>
    </p:spTree>
    <p:extLst>
      <p:ext uri="{BB962C8B-B14F-4D97-AF65-F5344CB8AC3E}">
        <p14:creationId xmlns:p14="http://schemas.microsoft.com/office/powerpoint/2010/main" val="66311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A0B88-6BAD-D162-C058-CCC462559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21708"/>
            <a:ext cx="5494638" cy="4349579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Another option is to include an appendix table</a:t>
            </a:r>
          </a:p>
          <a:p>
            <a:pPr lvl="1"/>
            <a:r>
              <a:rPr lang="en-US" sz="2000" dirty="0">
                <a:latin typeface="Palatino Linotype" panose="02040502050505030304" pitchFamily="18" charset="0"/>
              </a:rPr>
              <a:t>NOT pretty for a presentation</a:t>
            </a:r>
          </a:p>
          <a:p>
            <a:pPr lvl="1"/>
            <a:r>
              <a:rPr lang="en-US" sz="2000" dirty="0">
                <a:latin typeface="Palatino Linotype" panose="02040502050505030304" pitchFamily="18" charset="0"/>
              </a:rPr>
              <a:t>But perfectly fine in your appendix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200" dirty="0">
                <a:latin typeface="Palatino Linotype" panose="02040502050505030304" pitchFamily="18" charset="0"/>
              </a:rPr>
              <a:t>Allows for presentation of estimates from more than one specification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03B0EE-F46A-0D35-908E-D0FB42B9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56" y="427401"/>
            <a:ext cx="4892662" cy="718623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More on event-study figures: Showing values of coefficient estimates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4899E-0FB8-077F-F427-E04505E4E6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423170" y="0"/>
            <a:ext cx="67688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39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E67AC-18DD-67FD-CB53-1275E9F5E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" y="700476"/>
            <a:ext cx="11963401" cy="518842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Palatino Linotype" panose="02040502050505030304" pitchFamily="18" charset="0"/>
              </a:rPr>
              <a:t>How should I show a bunch of event-study robustness checks?</a:t>
            </a:r>
          </a:p>
          <a:p>
            <a:r>
              <a:rPr lang="en-US" sz="2000" dirty="0">
                <a:latin typeface="Palatino Linotype" panose="02040502050505030304" pitchFamily="18" charset="0"/>
              </a:rPr>
              <a:t>Error on side of more figures with fewer panels, as opposed to fewer figures with more panels</a:t>
            </a:r>
          </a:p>
          <a:p>
            <a:pPr lvl="1"/>
            <a:r>
              <a:rPr lang="en-US" sz="1800" dirty="0">
                <a:latin typeface="Palatino Linotype" panose="02040502050505030304" pitchFamily="18" charset="0"/>
              </a:rPr>
              <a:t>Here is a place where appendices are your friend!</a:t>
            </a:r>
          </a:p>
          <a:p>
            <a:r>
              <a:rPr lang="en-US" sz="2000" dirty="0">
                <a:latin typeface="Palatino Linotype" panose="02040502050505030304" pitchFamily="18" charset="0"/>
              </a:rPr>
              <a:t>You do not want a figure that looks like this…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BF9DE1-E5EA-D216-BC10-B9449410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5" y="31280"/>
            <a:ext cx="10515600" cy="66919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More on event-study figures: Presenting robustness checks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57B168-7751-EC8A-13E3-85BE57ABA6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52" b="2149"/>
          <a:stretch/>
        </p:blipFill>
        <p:spPr>
          <a:xfrm>
            <a:off x="2520897" y="2117126"/>
            <a:ext cx="6579908" cy="455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9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E3DE7-C88E-FF4C-F46C-1DFACF061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84742"/>
            <a:ext cx="5692588" cy="469222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Palatino Linotype" panose="02040502050505030304" pitchFamily="18" charset="0"/>
              </a:rPr>
              <a:t>This looks much better! (Not for a presentation but for your paper)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Place less important robustness checks in appendices to avoid clutter</a:t>
            </a:r>
          </a:p>
          <a:p>
            <a:pPr lvl="1"/>
            <a:r>
              <a:rPr lang="en-US" sz="1800" dirty="0">
                <a:latin typeface="Palatino Linotype" panose="02040502050505030304" pitchFamily="18" charset="0"/>
              </a:rPr>
              <a:t>It may not be necessary to present some robustness checks at all…just mention them in a footnote</a:t>
            </a:r>
          </a:p>
          <a:p>
            <a:pPr marL="0" indent="0">
              <a:buNone/>
            </a:pPr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It is ok for a figure with multiple panels to span more than one page in your document</a:t>
            </a:r>
          </a:p>
          <a:p>
            <a:pPr lvl="1"/>
            <a:r>
              <a:rPr lang="en-US" sz="1800" dirty="0">
                <a:latin typeface="Palatino Linotype" panose="02040502050505030304" pitchFamily="18" charset="0"/>
              </a:rPr>
              <a:t>Do not make reader squint or zoom way in!</a:t>
            </a:r>
          </a:p>
          <a:p>
            <a:endParaRPr lang="en-US" sz="2000" dirty="0">
              <a:latin typeface="Palatino Linotype" panose="02040502050505030304" pitchFamily="18" charset="0"/>
            </a:endParaRPr>
          </a:p>
          <a:p>
            <a:endParaRPr lang="en-US" sz="2000" dirty="0">
              <a:latin typeface="Palatino Linotype" panose="0204050205050503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96106F-3488-824A-8D33-184C9579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9"/>
            <a:ext cx="6016835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More on event-study figures: Presenting robustness checks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A4306B-1D3F-D764-7B8C-9CBFA5A4D5FC}"/>
              </a:ext>
            </a:extLst>
          </p:cNvPr>
          <p:cNvSpPr txBox="1"/>
          <p:nvPr/>
        </p:nvSpPr>
        <p:spPr>
          <a:xfrm>
            <a:off x="197935" y="6581001"/>
            <a:ext cx="5173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latin typeface="Palatino Linotype" panose="02040502050505030304" pitchFamily="18" charset="0"/>
              </a:rPr>
              <a:t>Figure from Anderson et al. (forthcoming)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4D1A3-E582-458B-53C6-F8E1A34522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4" r="1577"/>
          <a:stretch>
            <a:fillRect/>
          </a:stretch>
        </p:blipFill>
        <p:spPr>
          <a:xfrm>
            <a:off x="5585012" y="0"/>
            <a:ext cx="6499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6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2281E-26E5-1467-1614-C89544DEB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459" y="975053"/>
            <a:ext cx="11802035" cy="5712619"/>
          </a:xfrm>
        </p:spPr>
        <p:txBody>
          <a:bodyPr/>
          <a:lstStyle/>
          <a:p>
            <a:pPr marL="0" indent="0">
              <a:buNone/>
            </a:pPr>
            <a:r>
              <a:rPr lang="en-US" sz="2600" i="1" dirty="0">
                <a:latin typeface="Palatino Linotype" panose="02040502050505030304" pitchFamily="18" charset="0"/>
              </a:rPr>
              <a:t>Best practice should be to increase transparency through bringing clarity about the specification decisions made and to discuss robustness to alternative decisions</a:t>
            </a:r>
          </a:p>
          <a:p>
            <a:pPr marL="0" indent="0" algn="r">
              <a:buNone/>
            </a:pPr>
            <a:r>
              <a:rPr lang="en-US" sz="1800" dirty="0">
                <a:latin typeface="Palatino Linotype" panose="02040502050505030304" pitchFamily="18" charset="0"/>
              </a:rPr>
              <a:t>-Doug Miller (2023, “An Introductory Guide to Event Study Models,” </a:t>
            </a:r>
            <a:r>
              <a:rPr lang="en-US" sz="1800" i="1" dirty="0">
                <a:latin typeface="Palatino Linotype" panose="02040502050505030304" pitchFamily="18" charset="0"/>
              </a:rPr>
              <a:t>JEP</a:t>
            </a:r>
            <a:r>
              <a:rPr lang="en-US" sz="1800" dirty="0">
                <a:latin typeface="Palatino Linotype" panose="02040502050505030304" pitchFamily="18" charset="0"/>
              </a:rPr>
              <a:t>)</a:t>
            </a:r>
          </a:p>
          <a:p>
            <a:r>
              <a:rPr lang="en-US" dirty="0">
                <a:latin typeface="Palatino Linotype" panose="02040502050505030304" pitchFamily="18" charset="0"/>
              </a:rPr>
              <a:t>Follow the three Ds!</a:t>
            </a:r>
          </a:p>
          <a:p>
            <a:pPr marL="457200" lvl="1" indent="0">
              <a:buNone/>
            </a:pPr>
            <a:r>
              <a:rPr lang="en-US" b="1" dirty="0">
                <a:latin typeface="Palatino Linotype" panose="02040502050505030304" pitchFamily="18" charset="0"/>
              </a:rPr>
              <a:t>Decide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Make every specification choice deliberately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At every decision point, ask: Which option better fits this thought experiment?</a:t>
            </a:r>
          </a:p>
          <a:p>
            <a:pPr marL="457200" lvl="1" indent="0">
              <a:buNone/>
            </a:pPr>
            <a:r>
              <a:rPr lang="en-US" b="1" dirty="0">
                <a:latin typeface="Palatino Linotype" panose="02040502050505030304" pitchFamily="18" charset="0"/>
              </a:rPr>
              <a:t>Document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Write down what you chose and why – in the paper, not just the do file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AI makes this super easy…just create a living document that Claude is constantly updating</a:t>
            </a:r>
          </a:p>
          <a:p>
            <a:pPr marL="457200" lvl="1" indent="0">
              <a:buNone/>
            </a:pPr>
            <a:r>
              <a:rPr lang="en-US" b="1" dirty="0">
                <a:latin typeface="Palatino Linotype" panose="02040502050505030304" pitchFamily="18" charset="0"/>
              </a:rPr>
              <a:t>Defend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Show the result survives the alternatives – different windows, references, estimators, etc.</a:t>
            </a:r>
          </a:p>
          <a:p>
            <a:pPr marL="457200" lvl="1" indent="0">
              <a:buNone/>
            </a:pPr>
            <a:r>
              <a:rPr lang="en-US" b="1" dirty="0">
                <a:latin typeface="Palatino Linotype" panose="02040502050505030304" pitchFamily="18" charset="0"/>
              </a:rPr>
              <a:t>Discuss</a:t>
            </a:r>
          </a:p>
          <a:p>
            <a:pPr marL="914400" lvl="2" indent="0">
              <a:buNone/>
            </a:pPr>
            <a:r>
              <a:rPr lang="en-US" dirty="0">
                <a:latin typeface="Palatino Linotype" panose="02040502050505030304" pitchFamily="18" charset="0"/>
              </a:rPr>
              <a:t>Does your result survive reasonable changes to the baseline specification?  If not, what are the reasons?</a:t>
            </a:r>
          </a:p>
          <a:p>
            <a:pPr lvl="2"/>
            <a:endParaRPr lang="en-US" b="1" dirty="0">
              <a:latin typeface="Palatino Linotype" panose="0204050205050503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943F0F-A57F-43AB-B022-A3DBFFD9E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59" y="170328"/>
            <a:ext cx="10515600" cy="75989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A few best-practice recommendations (theme: transparency)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012781-34B4-74AE-11B0-5D83E254D1A6}"/>
              </a:ext>
            </a:extLst>
          </p:cNvPr>
          <p:cNvCxnSpPr>
            <a:cxnSpLocks/>
          </p:cNvCxnSpPr>
          <p:nvPr/>
        </p:nvCxnSpPr>
        <p:spPr>
          <a:xfrm>
            <a:off x="829235" y="4944038"/>
            <a:ext cx="10434917" cy="7261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A13AC4-DD82-2ADA-7388-BCD975050BD0}"/>
              </a:ext>
            </a:extLst>
          </p:cNvPr>
          <p:cNvCxnSpPr>
            <a:cxnSpLocks/>
          </p:cNvCxnSpPr>
          <p:nvPr/>
        </p:nvCxnSpPr>
        <p:spPr>
          <a:xfrm flipV="1">
            <a:off x="986116" y="5103161"/>
            <a:ext cx="10121153" cy="4078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45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4BF3-5D1B-7270-B4BE-1DAFBA0E9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82" y="1264024"/>
            <a:ext cx="12111318" cy="5345907"/>
          </a:xfrm>
        </p:spPr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Checklist (items I engage with on every event-study-based paper I write)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Palatino Linotype" panose="02040502050505030304" pitchFamily="18" charset="0"/>
              </a:rPr>
              <a:t>Data structure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Palatino Linotype" panose="02040502050505030304" pitchFamily="18" charset="0"/>
              </a:rPr>
              <a:t>Units by event time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Palatino Linotype" panose="02040502050505030304" pitchFamily="18" charset="0"/>
              </a:rPr>
              <a:t>Picking your reference period and event window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Palatino Linotype" panose="02040502050505030304" pitchFamily="18" charset="0"/>
              </a:rPr>
              <a:t>Pre-trends as a diagnostic tool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4F2245-A0BE-6BA1-54A7-0153ECFA5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12" y="248069"/>
            <a:ext cx="10515600" cy="86593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A few best-practice recommendations (theme: transparency)</a:t>
            </a:r>
          </a:p>
        </p:txBody>
      </p:sp>
    </p:spTree>
    <p:extLst>
      <p:ext uri="{BB962C8B-B14F-4D97-AF65-F5344CB8AC3E}">
        <p14:creationId xmlns:p14="http://schemas.microsoft.com/office/powerpoint/2010/main" val="4010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F511-2891-C9A3-779D-C86C95FEF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53" y="358588"/>
            <a:ext cx="12129247" cy="636494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Palatino Linotype" panose="02040502050505030304" pitchFamily="18" charset="0"/>
              </a:rPr>
              <a:t>Diagnose your data structure</a:t>
            </a:r>
          </a:p>
          <a:p>
            <a:endParaRPr lang="en-US" dirty="0"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Write one sentence telling your reader which DD world you live in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Textbook 2x2 DD setting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Some units get treated, all at the same time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Timing-based (staggered)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Everyone gets treated eventually, but at different times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No never-treated controls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Hybrid (staggered)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Some never-treated units + varying event dates</a:t>
            </a:r>
          </a:p>
          <a:p>
            <a:pPr lvl="2"/>
            <a:endParaRPr lang="en-US" dirty="0"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This information belongs in the introduction of your paper</a:t>
            </a:r>
          </a:p>
        </p:txBody>
      </p:sp>
    </p:spTree>
    <p:extLst>
      <p:ext uri="{BB962C8B-B14F-4D97-AF65-F5344CB8AC3E}">
        <p14:creationId xmlns:p14="http://schemas.microsoft.com/office/powerpoint/2010/main" val="89518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50013-2224-D99D-5E3A-BD48D03A6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50756"/>
            <a:ext cx="12192000" cy="573489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Palatino Linotype" panose="02040502050505030304" pitchFamily="18" charset="0"/>
              </a:rPr>
              <a:t>Units by event time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Coefficients far from t = 0 are almost always estimated off a smaller set of units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If composition is changing as you move along the x-axis, your reader needs to know this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Include a figure like this in an appendix</a:t>
            </a:r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3B002EAE-A69E-83CD-0B06-8B8143942B7B}"/>
              </a:ext>
            </a:extLst>
          </p:cNvPr>
          <p:cNvSpPr/>
          <p:nvPr/>
        </p:nvSpPr>
        <p:spPr>
          <a:xfrm>
            <a:off x="4918050" y="2481147"/>
            <a:ext cx="2499333" cy="35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count by event time</a:t>
            </a:r>
            <a:endParaRPr lang="en-US" sz="1300" dirty="0"/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90D70C41-DC07-AC5D-5FCB-DBF673F3D4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760806"/>
              </p:ext>
            </p:extLst>
          </p:nvPr>
        </p:nvGraphicFramePr>
        <p:xfrm>
          <a:off x="3657600" y="2734234"/>
          <a:ext cx="4679576" cy="4123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6828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7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D2268-7EBC-ED1D-E85D-065A6BFF3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741" y="206188"/>
            <a:ext cx="11806517" cy="60691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Palatino Linotype" panose="02040502050505030304" pitchFamily="18" charset="0"/>
              </a:rPr>
              <a:t>Picking your reference period and event window</a:t>
            </a:r>
          </a:p>
          <a:p>
            <a:r>
              <a:rPr lang="en-US" dirty="0">
                <a:latin typeface="Palatino Linotype" panose="02040502050505030304" pitchFamily="18" charset="0"/>
              </a:rPr>
              <a:t>Profession standard: Drop the t = -1 dummy and move on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Pro: It is the profession standard! 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Con: Your entire path is normalized to one (possibly noisy) period right before treatment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Con: What if there is a “pre-event” process that is bundled with the event (e.g., Ashenfelter dip)? Do not want to use the period of the dip as our counterfactual baseline.</a:t>
            </a:r>
          </a:p>
          <a:p>
            <a:r>
              <a:rPr lang="en-US" dirty="0">
                <a:latin typeface="Palatino Linotype" panose="02040502050505030304" pitchFamily="18" charset="0"/>
              </a:rPr>
              <a:t>Miller’s (2023) recommendations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First, make a judgement call as to what is a reasonable pre-event window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No hard-and-fast rule</a:t>
            </a:r>
          </a:p>
          <a:p>
            <a:pPr lvl="3"/>
            <a:r>
              <a:rPr lang="en-US" dirty="0">
                <a:latin typeface="Palatino Linotype" panose="02040502050505030304" pitchFamily="18" charset="0"/>
              </a:rPr>
              <a:t>Use institutional knowledge (e.g., Does it make sense to look 20 years prior to policy X?)</a:t>
            </a:r>
          </a:p>
          <a:p>
            <a:pPr lvl="3"/>
            <a:r>
              <a:rPr lang="en-US" dirty="0">
                <a:latin typeface="Palatino Linotype" panose="02040502050505030304" pitchFamily="18" charset="0"/>
              </a:rPr>
              <a:t>What pre-event window would you use for a simple DD model? Why?</a:t>
            </a:r>
          </a:p>
          <a:p>
            <a:pPr lvl="1"/>
            <a:r>
              <a:rPr lang="en-US" dirty="0">
                <a:latin typeface="Palatino Linotype" panose="02040502050505030304" pitchFamily="18" charset="0"/>
              </a:rPr>
              <a:t>For reference period, normalize to zero over several pre-event times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Can get smaller SEs…no longer absorbing noise of one solitary reference period into every other coefficient</a:t>
            </a:r>
          </a:p>
          <a:p>
            <a:pPr lvl="2"/>
            <a:r>
              <a:rPr lang="en-US" dirty="0">
                <a:latin typeface="Palatino Linotype" panose="02040502050505030304" pitchFamily="18" charset="0"/>
              </a:rPr>
              <a:t>Pre-trend reads differently…looking at overall trend in coefficients, not each one’s distance from zero.</a:t>
            </a:r>
          </a:p>
        </p:txBody>
      </p:sp>
    </p:spTree>
    <p:extLst>
      <p:ext uri="{BB962C8B-B14F-4D97-AF65-F5344CB8AC3E}">
        <p14:creationId xmlns:p14="http://schemas.microsoft.com/office/powerpoint/2010/main" val="72272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6F68-4D74-E108-B7B8-862FD2FD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8" y="125507"/>
            <a:ext cx="10515600" cy="71353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Pre-trends as a diagnostic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0ED4D-01CA-FB46-4BA8-0B14F5CDC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18" y="1000406"/>
            <a:ext cx="11914094" cy="5857594"/>
          </a:xfrm>
        </p:spPr>
        <p:txBody>
          <a:bodyPr/>
          <a:lstStyle/>
          <a:p>
            <a:r>
              <a:rPr lang="en-US" sz="2400" dirty="0">
                <a:latin typeface="Palatino Linotype" panose="02040502050505030304" pitchFamily="18" charset="0"/>
              </a:rPr>
              <a:t>Estimated pre-treatment terms often serve as a tool for diagnosing trends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Often done informally by visually inspecting the graph of the pre-event coefficient estimates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First question: How many pre-period events is “enough” to detect a trend?  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A flat pre-trend with two periods proves almost nothing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Low power can hide real trends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Wide CIs around pre-event coefficient estimates near zero ≠ no pre-trend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Even mild, visually-undetectable trends can move post-event estimates a lot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Consider adding something like the Roth (2022) power test.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It asks: “Given the </a:t>
            </a:r>
            <a:r>
              <a:rPr lang="en-US" sz="2200" dirty="0" err="1">
                <a:latin typeface="Palatino Linotype" panose="02040502050505030304" pitchFamily="18" charset="0"/>
              </a:rPr>
              <a:t>pretrends</a:t>
            </a:r>
            <a:r>
              <a:rPr lang="en-US" sz="2200" dirty="0">
                <a:latin typeface="Palatino Linotype" panose="02040502050505030304" pitchFamily="18" charset="0"/>
              </a:rPr>
              <a:t> I observe in my data, how large would a trend violation need to be for me to detect it?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Key insight: Test quantifies what magnitude of violations you could plausibly miss</a:t>
            </a:r>
          </a:p>
          <a:p>
            <a:pPr lvl="2"/>
            <a:r>
              <a:rPr lang="en-US" sz="1800" dirty="0">
                <a:latin typeface="Palatino Linotype" panose="02040502050505030304" pitchFamily="18" charset="0"/>
              </a:rPr>
              <a:t>Helps researchers understand whether their “clean” </a:t>
            </a:r>
            <a:r>
              <a:rPr lang="en-US" sz="1800" dirty="0" err="1">
                <a:latin typeface="Palatino Linotype" panose="02040502050505030304" pitchFamily="18" charset="0"/>
              </a:rPr>
              <a:t>pretrends</a:t>
            </a:r>
            <a:r>
              <a:rPr lang="en-US" sz="1800" dirty="0">
                <a:latin typeface="Palatino Linotype" panose="02040502050505030304" pitchFamily="18" charset="0"/>
              </a:rPr>
              <a:t> provide meaningful evidence for their identifying assumption.</a:t>
            </a:r>
          </a:p>
          <a:p>
            <a:pPr lvl="1"/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6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11772D-DFA0-10CB-1119-CF9A02CE2414}"/>
              </a:ext>
            </a:extLst>
          </p:cNvPr>
          <p:cNvSpPr txBox="1">
            <a:spLocks/>
          </p:cNvSpPr>
          <p:nvPr/>
        </p:nvSpPr>
        <p:spPr>
          <a:xfrm>
            <a:off x="98612" y="488282"/>
            <a:ext cx="10515600" cy="713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Palatino Linotype" panose="02040502050505030304" pitchFamily="18" charset="0"/>
              </a:rPr>
              <a:t>Consider the following event-study graphs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BA8DDD-2C1F-948D-4572-571159295B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23" r="3625"/>
          <a:stretch/>
        </p:blipFill>
        <p:spPr>
          <a:xfrm>
            <a:off x="0" y="1813268"/>
            <a:ext cx="5600215" cy="3938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E1A87F-EAA5-D165-4DF1-D69102D4683B}"/>
              </a:ext>
            </a:extLst>
          </p:cNvPr>
          <p:cNvSpPr txBox="1"/>
          <p:nvPr/>
        </p:nvSpPr>
        <p:spPr>
          <a:xfrm rot="1153956">
            <a:off x="1417084" y="2763608"/>
            <a:ext cx="2766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lbertus Extra Bold" panose="020E0802040304020204" pitchFamily="34" charset="0"/>
              </a:rPr>
              <a:t>LOW POWER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1773E1-2681-A730-A557-C11BD9E1B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754" y="1631665"/>
            <a:ext cx="5023413" cy="39411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2FDDDE-F1F8-79F8-9B06-31F80859BF23}"/>
              </a:ext>
            </a:extLst>
          </p:cNvPr>
          <p:cNvSpPr txBox="1"/>
          <p:nvPr/>
        </p:nvSpPr>
        <p:spPr>
          <a:xfrm>
            <a:off x="8177777" y="5945022"/>
            <a:ext cx="3542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Miller et al. (</a:t>
            </a:r>
            <a:r>
              <a:rPr lang="en-US" i="1" dirty="0"/>
              <a:t>QJE</a:t>
            </a:r>
            <a:r>
              <a:rPr lang="en-US" dirty="0"/>
              <a:t>, 2021)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8F8A4-11FA-F53C-5C47-CB6C3A4DA987}"/>
              </a:ext>
            </a:extLst>
          </p:cNvPr>
          <p:cNvSpPr txBox="1"/>
          <p:nvPr/>
        </p:nvSpPr>
        <p:spPr>
          <a:xfrm>
            <a:off x="2800106" y="5983098"/>
            <a:ext cx="3542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Anderson et al. (</a:t>
            </a:r>
            <a:r>
              <a:rPr lang="en-US" i="1" dirty="0"/>
              <a:t>JHR</a:t>
            </a:r>
            <a:r>
              <a:rPr lang="en-US" dirty="0"/>
              <a:t>, forthcoming)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CB484B-BCD1-4162-7329-05DD63C653D4}"/>
              </a:ext>
            </a:extLst>
          </p:cNvPr>
          <p:cNvSpPr txBox="1"/>
          <p:nvPr/>
        </p:nvSpPr>
        <p:spPr>
          <a:xfrm rot="1153956">
            <a:off x="8565804" y="2973760"/>
            <a:ext cx="2766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lbertus Extra Bold" panose="020E0802040304020204" pitchFamily="34" charset="0"/>
              </a:rPr>
              <a:t>LOW POWER</a:t>
            </a:r>
          </a:p>
        </p:txBody>
      </p:sp>
    </p:spTree>
    <p:extLst>
      <p:ext uri="{BB962C8B-B14F-4D97-AF65-F5344CB8AC3E}">
        <p14:creationId xmlns:p14="http://schemas.microsoft.com/office/powerpoint/2010/main" val="387092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6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021057-3F17-831D-3D58-90E46A49A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81" y="564243"/>
            <a:ext cx="9862260" cy="5913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552AFF-D515-E0DC-1E69-8090DD851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939" y="1222410"/>
            <a:ext cx="4897165" cy="2652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4AFF71-79C4-6679-D232-6C7929686476}"/>
              </a:ext>
            </a:extLst>
          </p:cNvPr>
          <p:cNvSpPr txBox="1"/>
          <p:nvPr/>
        </p:nvSpPr>
        <p:spPr>
          <a:xfrm>
            <a:off x="7241444" y="6293757"/>
            <a:ext cx="4950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Anderson, Charles, and Rees (</a:t>
            </a:r>
            <a:r>
              <a:rPr lang="en-US" i="1" dirty="0"/>
              <a:t>NBER WP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9515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A46ED-507A-A5FA-8B83-EE40FEA39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102659"/>
            <a:ext cx="10959353" cy="5351929"/>
          </a:xfrm>
        </p:spPr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How should I handle the endpoints? Bin them? Show all?  </a:t>
            </a:r>
          </a:p>
          <a:p>
            <a:r>
              <a:rPr lang="en-US" dirty="0">
                <a:latin typeface="Palatino Linotype" panose="02040502050505030304" pitchFamily="18" charset="0"/>
              </a:rPr>
              <a:t>Should I pool my event-study indicators? </a:t>
            </a:r>
          </a:p>
          <a:p>
            <a:r>
              <a:rPr lang="en-US" dirty="0">
                <a:latin typeface="Palatino Linotype" panose="02040502050505030304" pitchFamily="18" charset="0"/>
              </a:rPr>
              <a:t>Covariates (don’t ask me…ask Scott!)</a:t>
            </a:r>
          </a:p>
          <a:p>
            <a:r>
              <a:rPr lang="en-US" dirty="0">
                <a:latin typeface="Palatino Linotype" panose="02040502050505030304" pitchFamily="18" charset="0"/>
              </a:rPr>
              <a:t>Weighting</a:t>
            </a:r>
          </a:p>
          <a:p>
            <a:endParaRPr lang="en-US" dirty="0"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More generally, at the end of each project,…</a:t>
            </a:r>
          </a:p>
          <a:p>
            <a:pPr marL="457200" indent="0" algn="just">
              <a:buNone/>
            </a:pPr>
            <a:r>
              <a:rPr lang="en-US" dirty="0">
                <a:latin typeface="Palatino Linotype" panose="02040502050505030304" pitchFamily="18" charset="0"/>
              </a:rPr>
              <a:t>you’ve convinced yourself of what the data are telling you through exhaustive exploration; the figures you publish should reflect that conviction faithfully, not selectively showcase the most flattering moments from your journey.</a:t>
            </a:r>
          </a:p>
          <a:p>
            <a:pPr marL="0" indent="0">
              <a:buNone/>
            </a:pPr>
            <a:endParaRPr lang="en-US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EEB532-C28E-2BC0-8E0A-E8FD72675DE3}"/>
              </a:ext>
            </a:extLst>
          </p:cNvPr>
          <p:cNvSpPr txBox="1">
            <a:spLocks/>
          </p:cNvSpPr>
          <p:nvPr/>
        </p:nvSpPr>
        <p:spPr>
          <a:xfrm>
            <a:off x="143435" y="251012"/>
            <a:ext cx="10515600" cy="713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Palatino Linotype" panose="02040502050505030304" pitchFamily="18" charset="0"/>
              </a:rPr>
              <a:t>Other items I frequently engage with</a:t>
            </a:r>
          </a:p>
        </p:txBody>
      </p:sp>
    </p:spTree>
    <p:extLst>
      <p:ext uri="{BB962C8B-B14F-4D97-AF65-F5344CB8AC3E}">
        <p14:creationId xmlns:p14="http://schemas.microsoft.com/office/powerpoint/2010/main" val="333669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13C20-D429-9B51-878F-24612F72F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4486"/>
            <a:ext cx="12192000" cy="498247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Take pride in the appearance of your results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Event-study figures help tell the story of your paper!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Sloppy presentation of results can sink a paper</a:t>
            </a:r>
          </a:p>
          <a:p>
            <a:pPr lvl="1"/>
            <a:endParaRPr lang="en-US" sz="2000" dirty="0">
              <a:latin typeface="Palatino Linotype" panose="02040502050505030304" pitchFamily="18" charset="0"/>
            </a:endParaRPr>
          </a:p>
          <a:p>
            <a:pPr marL="457200" lvl="1" indent="0">
              <a:buNone/>
            </a:pPr>
            <a:endParaRPr lang="en-US" sz="16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Think of creating tables and figures as an art form…take the time to do this right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Be transparent about your specification choices and why they matter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DBEF93-C7B4-BD59-64E4-60B59277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57" y="268179"/>
            <a:ext cx="10515600" cy="82571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978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AB0899F-92CC-4F03-AE99-375B13846225}" vid="{E3288AC6-8055-4991-B73C-87F3D2DE19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 Template</Template>
  <TotalTime>18695</TotalTime>
  <Words>2082</Words>
  <Application>Microsoft Office PowerPoint</Application>
  <PresentationFormat>Widescreen</PresentationFormat>
  <Paragraphs>242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Albertus Extra Bold</vt:lpstr>
      <vt:lpstr>Arial</vt:lpstr>
      <vt:lpstr>Calibri</vt:lpstr>
      <vt:lpstr>Calibri Light</vt:lpstr>
      <vt:lpstr>Palatino Linotype</vt:lpstr>
      <vt:lpstr>Wingdings</vt:lpstr>
      <vt:lpstr>Office Theme</vt:lpstr>
      <vt:lpstr>PowerPoint Presentation</vt:lpstr>
      <vt:lpstr>Four topics</vt:lpstr>
      <vt:lpstr>Presenting your equations within the text</vt:lpstr>
      <vt:lpstr>Case (i): Lead with TWFE estimates and then show results from one of the new DD estimators  </vt:lpstr>
      <vt:lpstr>Example of case (i): “Imposing Policy on Reluctant Actors: The Hospital Desegregation Campaign and Black Postneonatal Mortality in the Deep South” by Anderson, Charles and Rees (Forthcoming at Review of Economics and Statistics)</vt:lpstr>
      <vt:lpstr>Example of case (ii): “Changes in Family Structure and Welfare Participation Since the 1960s: The Role of Legal Services” by Cunningham and Goodman-Bacon (AEJ: Applied Economics, 2025)</vt:lpstr>
      <vt:lpstr>Example of case (iii)…and what NOT to do!</vt:lpstr>
      <vt:lpstr>Making event-study figures</vt:lpstr>
      <vt:lpstr>“Connected” (aka bow-tie) event-study figures</vt:lpstr>
      <vt:lpstr>“Connected” (aka bow-tie) event-study figures</vt:lpstr>
      <vt:lpstr>“Disconnected” event-study figures</vt:lpstr>
      <vt:lpstr>“Disconnected” event-study figures</vt:lpstr>
      <vt:lpstr>Hybrid approach?</vt:lpstr>
      <vt:lpstr>More on event-study figures: Providing important information</vt:lpstr>
      <vt:lpstr>More on event-study figures: Providing important information</vt:lpstr>
      <vt:lpstr>More on event-study figures: Keep it nice and neat</vt:lpstr>
      <vt:lpstr>More on event-study figures: Showing values of coefficient estimates</vt:lpstr>
      <vt:lpstr>More on event-study figures: Showing values of coefficient estimates</vt:lpstr>
      <vt:lpstr>More on event-study figures: Presenting robustness checks</vt:lpstr>
      <vt:lpstr>More on event-study figures: Presenting robustness checks</vt:lpstr>
      <vt:lpstr>A few best-practice recommendations (theme: transparency)</vt:lpstr>
      <vt:lpstr>A few best-practice recommendations (theme: transparency)</vt:lpstr>
      <vt:lpstr>PowerPoint Presentation</vt:lpstr>
      <vt:lpstr>PowerPoint Presentation</vt:lpstr>
      <vt:lpstr>PowerPoint Presentation</vt:lpstr>
      <vt:lpstr>Pre-trends as a diagnostic tool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Anderson, Mark</dc:creator>
  <cp:lastModifiedBy>Anderson, Mark</cp:lastModifiedBy>
  <cp:revision>206</cp:revision>
  <cp:lastPrinted>2022-08-12T14:29:45Z</cp:lastPrinted>
  <dcterms:created xsi:type="dcterms:W3CDTF">2022-07-20T20:22:44Z</dcterms:created>
  <dcterms:modified xsi:type="dcterms:W3CDTF">2026-08-06T10:54:34Z</dcterms:modified>
</cp:coreProperties>
</file>